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920f6a70-ea57-a4bb-4b9a-3bb753fbb171}">
          <p14:sldIdLst>
            <p14:sldId id="256"/>
          </p14:sldIdLst>
        </p14:section>
        <p14:section name="Product" id="{582835b0-c906-a15b-d63f-49aa0f095490}">
          <p14:sldIdLst>
            <p14:sldId id="257"/>
            <p14:sldId id="258"/>
          </p14:sldIdLst>
        </p14:section>
        <p14:section name="System design" id="{38c31838-74cb-50a0-3ae3-d85fcc0b2c09}">
          <p14:sldIdLst>
            <p14:sldId id="259"/>
            <p14:sldId id="260"/>
            <p14:sldId id="261"/>
            <p14:sldId id="262"/>
          </p14:sldIdLst>
        </p14:section>
        <p14:section name="Business rules" id="{3f974262-c547-fda8-a3ed-74399fea2f95}">
          <p14:sldIdLst>
            <p14:sldId id="263"/>
            <p14:sldId id="264"/>
            <p14:sldId id="265"/>
          </p14:sldIdLst>
        </p14:section>
        <p14:section name="Code" id="{2959be6a-563f-dbda-ab05-e6f674ed8fb3}">
          <p14:sldIdLst>
            <p14:sldId id="266"/>
            <p14:sldId id="267"/>
            <p14:sldId id="268"/>
          </p14:sldIdLst>
        </p14:section>
        <p14:section name="Closing" id="{94a55b9f-7e46-b36c-cfae-75f93cd197e8}">
          <p14:sldIdLst>
            <p14:sldId id="269"/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Framing: Goflix has three parts. I built the Laravel dashboard. The demo rebuilds that dashboard with made-up data because the real code is under NDA.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 is the viewer app (Vue and Go), not my part. Right is the dashboard I built, in its demo form.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rule in this deck turns on these three ways in. Point out that an episode can be premium on its own or through its series.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 for heavy playback traffic, Laravel for the internal team's forms and CRUD. Both write to the same PostgreSQL.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Production has about 40 tables, including games, music, radio and banners. The demo keeps the tables that carry the dashboard rules.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it left to right: master data, then documents, then records.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strongest design point to discuss: why the old pattern hurts and how to fix it without downtime.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it in the demo: add a plan for a user who is still subscribed and watch the end date move 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rule the Go API runs before playback. The dashboard has a Check button on the user page.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subscribers-cannot-rent rule stops people paying twice and cuts refund requests.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each row, have one example from this project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app/Services/SubscriptionService.php in the demo repo.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demo: check a premium movie for a user without a plan, add a rental, then check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Naming what is not done shows I know where the system is thin. Pick one to discuss.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the links and offer to open the demo or the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F Cover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737360"/>
            <a:ext cx="56692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6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F 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Goflix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hyperlink" Target="https://goflix-dashboard-demo.vercel.app" TargetMode="External"/><Relationship Id="rId2" Type="http://schemas.openxmlformats.org/officeDocument/2006/relationships/hyperlink" Target="https://goflix-dashboard-demo.vercel.app/goflix-walkthrough.pdf" TargetMode="External"/><Relationship Id="rId3" Type="http://schemas.openxmlformats.org/officeDocument/2006/relationships/hyperlink" Target="https://goflix-dashboard-demo.vercel.app/goflix-walkthrough.pptx" TargetMode="External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flix viewer app" descr="/workspaces/.xc-work/assets/goflix/site-t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02552" y="0"/>
            <a:ext cx="54864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702552" y="0"/>
            <a:ext cx="5486400" cy="6858000"/>
          </a:xfrm>
          <a:prstGeom prst="rect">
            <a:avLst/>
          </a:prstGeom>
          <a:solidFill>
            <a:schemeClr val="tx2">
              <a:alpha val="40000"/>
            </a:schemeClr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640080" y="13258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chemeClr val="accent1"/>
                </a:solidFill>
              </a:rPr>
              <a:t>STREAMING PLATFORM</a:t>
            </a:r>
            <a:endParaRPr lang="en-US" sz="13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640080" y="1737360"/>
            <a:ext cx="5669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Goflix</a:t>
            </a:r>
            <a:endParaRPr lang="en-US" sz="60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315468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The admin dashboard behind the catalog, the plans, and who may watch what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512064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Enrico Saputra  ·  Backend developer, Laravel dashboard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553212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Client code and data are private. The demo rebuilds the Laravel dashboard on the real data model, with made-up data.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01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Viewers see this; the team works here</a:t>
            </a:r>
            <a:endParaRPr lang="en-US" sz="3200" dirty="0"/>
          </a:p>
        </p:txBody>
      </p:sp>
      <p:pic>
        <p:nvPicPr>
          <p:cNvPr id="5" name="viewer app" descr="/workspaces/.xc-work/assets/goflix/s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5349240" cy="2628239"/>
          </a:xfrm>
          <a:prstGeom prst="rect">
            <a:avLst/>
          </a:prstGeom>
          <a:effectLst>
            <a:outerShdw sx="100000" sy="100000" kx="0" ky="0" algn="bl" rotWithShape="0" blurRad="152400" dist="50800" dir="5400000">
              <a:srgbClr val="0D1D15">
                <a:alpha val="22000"/>
              </a:srgbClr>
            </a:outerShdw>
          </a:effectLst>
        </p:spPr>
      </p:pic>
      <p:pic>
        <p:nvPicPr>
          <p:cNvPr id="6" name="dashboard" descr="/workspaces/.xc-work/assets/goflix/en-dashboard-wi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600200"/>
            <a:ext cx="5349240" cy="2628239"/>
          </a:xfrm>
          <a:prstGeom prst="rect">
            <a:avLst/>
          </a:prstGeom>
          <a:effectLst>
            <a:outerShdw sx="100000" sy="100000" kx="0" ky="0" algn="bl" rotWithShape="0" blurRad="152400" dist="50800" dir="5400000">
              <a:srgbClr val="0D1D15">
                <a:alpha val="22000"/>
              </a:srgbClr>
            </a:outerShdw>
          </a:effectLst>
        </p:spPr>
      </p:pic>
      <p:sp>
        <p:nvSpPr>
          <p:cNvPr id="7" name="Shape 2"/>
          <p:cNvSpPr/>
          <p:nvPr/>
        </p:nvSpPr>
        <p:spPr>
          <a:xfrm>
            <a:off x="548640" y="4434840"/>
            <a:ext cx="3108960" cy="384048"/>
          </a:xfrm>
          <a:prstGeom prst="roundRect">
            <a:avLst>
              <a:gd name="adj" fmla="val 2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548640" y="443484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Viewer app · Vue + Go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6263640" y="4434840"/>
            <a:ext cx="3566160" cy="384048"/>
          </a:xfrm>
          <a:prstGeom prst="roundRect">
            <a:avLst>
              <a:gd name="adj" fmla="val 2381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6263640" y="443484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Dashboard · Laravel · my part</a:t>
            </a:r>
            <a:endParaRPr lang="en-US" sz="1300" dirty="0"/>
          </a:p>
        </p:txBody>
      </p:sp>
      <p:sp>
        <p:nvSpPr>
          <p:cNvPr id="11" name="Text 6"/>
          <p:cNvSpPr txBox="1"/>
          <p:nvPr/>
        </p:nvSpPr>
        <p:spPr>
          <a:xfrm>
            <a:off x="548640" y="50749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The content team adds movies and episodes, the business team sets plans and coupons, and support answers "why can't I watch this?"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02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Three ways to watch</a:t>
            </a:r>
            <a:endParaRPr lang="en-US" sz="3200" dirty="0"/>
          </a:p>
        </p:txBody>
      </p:sp>
      <p:sp>
        <p:nvSpPr>
          <p:cNvPr id="5" name="card"/>
          <p:cNvSpPr/>
          <p:nvPr/>
        </p:nvSpPr>
        <p:spPr>
          <a:xfrm>
            <a:off x="548640" y="1600200"/>
            <a:ext cx="3520440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68680" y="1920240"/>
            <a:ext cx="822960" cy="8229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" y="2121408"/>
            <a:ext cx="420624" cy="42062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68680" y="29718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Free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868680" y="356616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Free titles play for anyone with an active account.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4297680" y="1600200"/>
            <a:ext cx="3520440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17720" y="1920240"/>
            <a:ext cx="822960" cy="8229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8888" y="2121408"/>
            <a:ext cx="420624" cy="42062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4617720" y="29718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Plan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4617720" y="356616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A monthly or yearly plan opens every premium title.</a:t>
            </a:r>
            <a:endParaRPr lang="en-US" sz="1500" dirty="0"/>
          </a:p>
        </p:txBody>
      </p:sp>
      <p:sp>
        <p:nvSpPr>
          <p:cNvPr id="15" name="card"/>
          <p:cNvSpPr/>
          <p:nvPr/>
        </p:nvSpPr>
        <p:spPr>
          <a:xfrm>
            <a:off x="8046720" y="1600200"/>
            <a:ext cx="3520440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8366760" y="1920240"/>
            <a:ext cx="822960" cy="82296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7928" y="2121408"/>
            <a:ext cx="420624" cy="42062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366760" y="29718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Rental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8366760" y="356616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One premium movie, for a few days, without a plan.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548640" y="49377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My part: the catalog, plans and coupons, users and payments, and the reports on them.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03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Three parts, one database</a:t>
            </a:r>
            <a:endParaRPr lang="en-US" sz="3200" dirty="0"/>
          </a:p>
        </p:txBody>
      </p:sp>
      <p:sp>
        <p:nvSpPr>
          <p:cNvPr id="5" name="card"/>
          <p:cNvSpPr/>
          <p:nvPr/>
        </p:nvSpPr>
        <p:spPr>
          <a:xfrm>
            <a:off x="548640" y="1645920"/>
            <a:ext cx="2286000" cy="685800"/>
          </a:xfrm>
          <a:prstGeom prst="roundRect">
            <a:avLst>
              <a:gd name="adj" fmla="val 1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64592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Vue.js web</a:t>
            </a:r>
            <a:endParaRPr lang="en-US" sz="1500" dirty="0"/>
          </a:p>
        </p:txBody>
      </p:sp>
      <p:sp>
        <p:nvSpPr>
          <p:cNvPr id="7" name="card"/>
          <p:cNvSpPr/>
          <p:nvPr/>
        </p:nvSpPr>
        <p:spPr>
          <a:xfrm>
            <a:off x="548640" y="2606040"/>
            <a:ext cx="2286000" cy="685800"/>
          </a:xfrm>
          <a:prstGeom prst="roundRect">
            <a:avLst>
              <a:gd name="adj" fmla="val 1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260604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Mobile app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3749040" y="2103120"/>
            <a:ext cx="201168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749040" y="210312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Go API</a:t>
            </a:r>
            <a:endParaRPr lang="en-US" sz="1500" dirty="0"/>
          </a:p>
        </p:txBody>
      </p:sp>
      <p:sp>
        <p:nvSpPr>
          <p:cNvPr id="11" name="card"/>
          <p:cNvSpPr/>
          <p:nvPr/>
        </p:nvSpPr>
        <p:spPr>
          <a:xfrm>
            <a:off x="6675120" y="2103120"/>
            <a:ext cx="2103120" cy="777240"/>
          </a:xfrm>
          <a:prstGeom prst="roundRect">
            <a:avLst>
              <a:gd name="adj" fmla="val 14118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675120" y="210312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PostgreSQL</a:t>
            </a:r>
            <a:endParaRPr lang="en-US" sz="1500" dirty="0"/>
          </a:p>
        </p:txBody>
      </p:sp>
      <p:sp>
        <p:nvSpPr>
          <p:cNvPr id="13" name="card"/>
          <p:cNvSpPr/>
          <p:nvPr/>
        </p:nvSpPr>
        <p:spPr>
          <a:xfrm>
            <a:off x="9509760" y="2103120"/>
            <a:ext cx="2103120" cy="777240"/>
          </a:xfrm>
          <a:prstGeom prst="roundRect">
            <a:avLst>
              <a:gd name="adj" fmla="val 14118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509760" y="210312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Laravel dashboard</a:t>
            </a:r>
            <a:endParaRPr lang="en-US" sz="1500" dirty="0"/>
          </a:p>
        </p:txBody>
      </p:sp>
      <p:sp>
        <p:nvSpPr>
          <p:cNvPr id="15" name="card"/>
          <p:cNvSpPr/>
          <p:nvPr/>
        </p:nvSpPr>
        <p:spPr>
          <a:xfrm>
            <a:off x="3749040" y="3474720"/>
            <a:ext cx="2011680" cy="685800"/>
          </a:xfrm>
          <a:prstGeom prst="roundRect">
            <a:avLst>
              <a:gd name="adj" fmla="val 16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749040" y="34747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Payment gateway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3749040" y="3474720"/>
            <a:ext cx="2011680" cy="685800"/>
          </a:xfrm>
          <a:prstGeom prst="roundRect">
            <a:avLst>
              <a:gd name="adj" fmla="val 16000"/>
            </a:avLst>
          </a:prstGeom>
          <a:ln w="15875">
            <a:solidFill>
              <a:schemeClr val="accent6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834640" y="1993392"/>
            <a:ext cx="914400" cy="384048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 flipV="1">
            <a:off x="2834640" y="2606040"/>
            <a:ext cx="914400" cy="338328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5760720" y="2487168"/>
            <a:ext cx="914400" cy="914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 flipH="1">
            <a:off x="8778240" y="2487168"/>
            <a:ext cx="731520" cy="914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>
            <a:off x="4754880" y="2880360"/>
            <a:ext cx="914" cy="59436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dash"/>
            <a:tailEnd type="triangle"/>
          </a:ln>
        </p:spPr>
      </p:sp>
      <p:sp>
        <p:nvSpPr>
          <p:cNvPr id="23" name="Text 20"/>
          <p:cNvSpPr txBox="1"/>
          <p:nvPr/>
        </p:nvSpPr>
        <p:spPr>
          <a:xfrm>
            <a:off x="548640" y="452628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Two writers</a:t>
            </a:r>
            <a:endParaRPr lang="en-US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4983480"/>
            <a:ext cx="3520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API writes activity and in-app payments; the dashboard writes the catalog, plans and corrections.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4297680" y="452628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The server decides</a:t>
            </a:r>
            <a:endParaRPr lang="en-US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4983480"/>
            <a:ext cx="3520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app never decides access on its own. The dashboard shows support the same rule.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8046720" y="452628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No API in the dashboard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8046720" y="4983480"/>
            <a:ext cx="3520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Everything the apps need goes through the Go API.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04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The data model in three groups</a:t>
            </a:r>
            <a:endParaRPr lang="en-US" sz="3200" dirty="0"/>
          </a:p>
        </p:txBody>
      </p:sp>
      <p:sp>
        <p:nvSpPr>
          <p:cNvPr id="5" name="card"/>
          <p:cNvSpPr/>
          <p:nvPr/>
        </p:nvSpPr>
        <p:spPr>
          <a:xfrm>
            <a:off x="548640" y="1600200"/>
            <a:ext cx="3520440" cy="384048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828800"/>
            <a:ext cx="384048" cy="38404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325880" y="1810512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Catalog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822960" y="2468880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22960" y="2468880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movies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2359152" y="2468880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2359152" y="2468880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shows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822960" y="3035808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22960" y="3035808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episodes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2359152" y="3035808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2359152" y="3035808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seasons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822960" y="3602736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822960" y="3602736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genres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2359152" y="3602736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2359152" y="3602736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languages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822960" y="4169664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822960" y="4169664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people</a:t>
            </a:r>
            <a:endParaRPr lang="en-US" sz="1100" dirty="0"/>
          </a:p>
        </p:txBody>
      </p:sp>
      <p:sp>
        <p:nvSpPr>
          <p:cNvPr id="22" name="card"/>
          <p:cNvSpPr/>
          <p:nvPr/>
        </p:nvSpPr>
        <p:spPr>
          <a:xfrm>
            <a:off x="4297680" y="1600200"/>
            <a:ext cx="3520440" cy="384048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828800"/>
            <a:ext cx="384048" cy="384048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5074920" y="1810512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Users and money</a:t>
            </a:r>
            <a:endParaRPr lang="en-US" sz="1700" dirty="0"/>
          </a:p>
        </p:txBody>
      </p:sp>
      <p:sp>
        <p:nvSpPr>
          <p:cNvPr id="25" name="Shape 20"/>
          <p:cNvSpPr/>
          <p:nvPr/>
        </p:nvSpPr>
        <p:spPr>
          <a:xfrm>
            <a:off x="4572000" y="2468880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4572000" y="2468880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</a:t>
            </a:r>
            <a:endParaRPr lang="en-US" sz="1100" dirty="0"/>
          </a:p>
        </p:txBody>
      </p:sp>
      <p:sp>
        <p:nvSpPr>
          <p:cNvPr id="27" name="Shape 22"/>
          <p:cNvSpPr/>
          <p:nvPr/>
        </p:nvSpPr>
        <p:spPr>
          <a:xfrm>
            <a:off x="6108192" y="2468880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6108192" y="2468880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packages</a:t>
            </a:r>
            <a:endParaRPr lang="en-US" sz="1100" dirty="0"/>
          </a:p>
        </p:txBody>
      </p:sp>
      <p:sp>
        <p:nvSpPr>
          <p:cNvPr id="29" name="Shape 24"/>
          <p:cNvSpPr/>
          <p:nvPr/>
        </p:nvSpPr>
        <p:spPr>
          <a:xfrm>
            <a:off x="4572000" y="3035808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4572000" y="3035808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package_features</a:t>
            </a:r>
            <a:endParaRPr lang="en-US" sz="950" dirty="0"/>
          </a:p>
        </p:txBody>
      </p:sp>
      <p:sp>
        <p:nvSpPr>
          <p:cNvPr id="31" name="Shape 26"/>
          <p:cNvSpPr/>
          <p:nvPr/>
        </p:nvSpPr>
        <p:spPr>
          <a:xfrm>
            <a:off x="6108192" y="3035808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6108192" y="3035808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subscriptions</a:t>
            </a:r>
            <a:endParaRPr lang="en-US" sz="1100" dirty="0"/>
          </a:p>
        </p:txBody>
      </p:sp>
      <p:sp>
        <p:nvSpPr>
          <p:cNvPr id="33" name="Shape 28"/>
          <p:cNvSpPr/>
          <p:nvPr/>
        </p:nvSpPr>
        <p:spPr>
          <a:xfrm>
            <a:off x="4572000" y="3602736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4" name="Text 29"/>
          <p:cNvSpPr txBox="1"/>
          <p:nvPr/>
        </p:nvSpPr>
        <p:spPr>
          <a:xfrm>
            <a:off x="4572000" y="3602736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rentals</a:t>
            </a:r>
            <a:endParaRPr lang="en-US" sz="1100" dirty="0"/>
          </a:p>
        </p:txBody>
      </p:sp>
      <p:sp>
        <p:nvSpPr>
          <p:cNvPr id="35" name="Shape 30"/>
          <p:cNvSpPr/>
          <p:nvPr/>
        </p:nvSpPr>
        <p:spPr>
          <a:xfrm>
            <a:off x="6108192" y="3602736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6108192" y="3602736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coupons</a:t>
            </a:r>
            <a:endParaRPr lang="en-US" sz="1100" dirty="0"/>
          </a:p>
        </p:txBody>
      </p:sp>
      <p:sp>
        <p:nvSpPr>
          <p:cNvPr id="37" name="card"/>
          <p:cNvSpPr/>
          <p:nvPr/>
        </p:nvSpPr>
        <p:spPr>
          <a:xfrm>
            <a:off x="8046720" y="1600200"/>
            <a:ext cx="3520440" cy="384048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3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1828800"/>
            <a:ext cx="384048" cy="384048"/>
          </a:xfrm>
          <a:prstGeom prst="rect">
            <a:avLst/>
          </a:prstGeom>
        </p:spPr>
      </p:pic>
      <p:sp>
        <p:nvSpPr>
          <p:cNvPr id="39" name="Text 33"/>
          <p:cNvSpPr txBox="1"/>
          <p:nvPr/>
        </p:nvSpPr>
        <p:spPr>
          <a:xfrm>
            <a:off x="8823960" y="1810512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Activity</a:t>
            </a:r>
            <a:endParaRPr lang="en-US" sz="1700" dirty="0"/>
          </a:p>
        </p:txBody>
      </p:sp>
      <p:sp>
        <p:nvSpPr>
          <p:cNvPr id="40" name="Text 34"/>
          <p:cNvSpPr txBox="1"/>
          <p:nvPr/>
        </p:nvSpPr>
        <p:spPr>
          <a:xfrm>
            <a:off x="8321040" y="3154680"/>
            <a:ext cx="2971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Written by the apps while people watch. The dashboard only reads it, for reports and continue watching.</a:t>
            </a:r>
            <a:endParaRPr lang="en-US" sz="1400" dirty="0"/>
          </a:p>
        </p:txBody>
      </p:sp>
      <p:sp>
        <p:nvSpPr>
          <p:cNvPr id="41" name="Shape 35"/>
          <p:cNvSpPr/>
          <p:nvPr/>
        </p:nvSpPr>
        <p:spPr>
          <a:xfrm>
            <a:off x="8321040" y="2468880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2" name="Text 36"/>
          <p:cNvSpPr txBox="1"/>
          <p:nvPr/>
        </p:nvSpPr>
        <p:spPr>
          <a:xfrm>
            <a:off x="8321040" y="2468880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watch_history</a:t>
            </a:r>
            <a:endParaRPr lang="en-US" sz="1100" dirty="0"/>
          </a:p>
        </p:txBody>
      </p:sp>
      <p:sp>
        <p:nvSpPr>
          <p:cNvPr id="43" name="Shape 37"/>
          <p:cNvSpPr/>
          <p:nvPr/>
        </p:nvSpPr>
        <p:spPr>
          <a:xfrm>
            <a:off x="9857232" y="2468880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4" name="Text 38"/>
          <p:cNvSpPr txBox="1"/>
          <p:nvPr/>
        </p:nvSpPr>
        <p:spPr>
          <a:xfrm>
            <a:off x="9857232" y="2468880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bookmarks</a:t>
            </a:r>
            <a:endParaRPr lang="en-US" sz="1100" dirty="0"/>
          </a:p>
        </p:txBody>
      </p:sp>
      <p:sp>
        <p:nvSpPr>
          <p:cNvPr id="45" name="Text 39"/>
          <p:cNvSpPr txBox="1"/>
          <p:nvPr/>
        </p:nvSpPr>
        <p:spPr>
          <a:xfrm>
            <a:off x="548640" y="56235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users.subscription_ends_on is the source of truth for a fast access check; only SubscriptionService may change it.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05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Database structure (ERD)</a:t>
            </a:r>
            <a:endParaRPr lang="en-US" sz="3200" dirty="0"/>
          </a:p>
        </p:txBody>
      </p:sp>
      <p:pic>
        <p:nvPicPr>
          <p:cNvPr id="5" name="ERD" descr="/workspaces/.xc-work/erd/goflix-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6077394" cy="480060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7037514" y="1417320"/>
            <a:ext cx="45753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Katalog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7037514" y="1801368"/>
            <a:ext cx="457536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movies, shows, episodes, seasons, with genre, language and cast pivots.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7037514" y="2606040"/>
            <a:ext cx="45753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users.subscription_ends_on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7037514" y="2990088"/>
            <a:ext cx="457536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The source of truth for a fast access check.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7037514" y="3794760"/>
            <a:ext cx="45753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subscriptions, rentals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7037514" y="4178808"/>
            <a:ext cx="457536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Payment records; never edited or deleted.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7037514" y="4983480"/>
            <a:ext cx="45753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watch_history, bookmarks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7037514" y="5367528"/>
            <a:ext cx="457536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Written by the apps while people watch; the dashboard only reads.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06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Relations: from text to pivot tables</a:t>
            </a:r>
            <a:endParaRPr lang="en-US" sz="3200" dirty="0"/>
          </a:p>
        </p:txBody>
      </p:sp>
      <p:sp>
        <p:nvSpPr>
          <p:cNvPr id="5" name="card"/>
          <p:cNvSpPr/>
          <p:nvPr/>
        </p:nvSpPr>
        <p:spPr>
          <a:xfrm>
            <a:off x="548640" y="1600200"/>
            <a:ext cx="5120640" cy="352044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68680" y="178308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Production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377440"/>
            <a:ext cx="4480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video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id: 12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category_id: '6,12,19'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cast_id: '1,108,109,110'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416052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Cannot be joined or indexed; deleted ids stay behind.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6492240" y="1600200"/>
            <a:ext cx="5120640" cy="352044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812280" y="178308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Demo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6812280" y="2377440"/>
            <a:ext cx="4480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genre_movie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(movie_id 12, genre_id 6)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(movie_id 12, genre_id 12)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(movie_id 12, genre_id 19)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812280" y="416052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Foreign keys, normal joins, and the genre report is one query.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760720" y="3337560"/>
            <a:ext cx="685800" cy="914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4" name="Text 11"/>
          <p:cNvSpPr txBox="1"/>
          <p:nvPr/>
        </p:nvSpPr>
        <p:spPr>
          <a:xfrm>
            <a:off x="548640" y="53949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Gradual migration: add the pivot, fill it from the old column, move readers one by one, then drop the old column.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07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Renewing without losing paid days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6002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Active until 20 Mar, buys 12 months on 10 Mar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2057400"/>
            <a:ext cx="2743200" cy="566928"/>
          </a:xfrm>
          <a:prstGeom prst="roundRect">
            <a:avLst>
              <a:gd name="adj" fmla="val 16129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205740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old: until 20 Mar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3337560" y="2057400"/>
            <a:ext cx="8275320" cy="566928"/>
          </a:xfrm>
          <a:prstGeom prst="roundRect">
            <a:avLst>
              <a:gd name="adj" fmla="val 1612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337560" y="2057400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new: 21 Mar to 20 Mar next year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29718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Ended 31 Jan, buys 1 month on 10 Mar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48640" y="3429000"/>
            <a:ext cx="2743200" cy="566928"/>
          </a:xfrm>
          <a:prstGeom prst="roundRect">
            <a:avLst>
              <a:gd name="adj" fmla="val 161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8640" y="342900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lapsed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3337560" y="3429000"/>
            <a:ext cx="2743200" cy="566928"/>
          </a:xfrm>
          <a:prstGeom prst="roundRect">
            <a:avLst>
              <a:gd name="adj" fmla="val 1612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337560" y="342900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10 Mar to 9 Apr</a:t>
            </a:r>
            <a:endParaRPr lang="en-US" sz="1400" dirty="0"/>
          </a:p>
        </p:txBody>
      </p:sp>
      <p:sp>
        <p:nvSpPr>
          <p:cNvPr id="15" name="card"/>
          <p:cNvSpPr/>
          <p:nvPr/>
        </p:nvSpPr>
        <p:spPr>
          <a:xfrm>
            <a:off x="548640" y="4343400"/>
            <a:ext cx="3520440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2960" y="45262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One place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4983480"/>
            <a:ext cx="3017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Only SubscriptionService moves users.subscription_ends_on.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4297680" y="4343400"/>
            <a:ext cx="3520440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572000" y="45262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One transaction</a:t>
            </a:r>
            <a:endParaRPr lang="en-US" sz="1700" dirty="0"/>
          </a:p>
        </p:txBody>
      </p:sp>
      <p:sp>
        <p:nvSpPr>
          <p:cNvPr id="20" name="Text 17"/>
          <p:cNvSpPr txBox="1"/>
          <p:nvPr/>
        </p:nvSpPr>
        <p:spPr>
          <a:xfrm>
            <a:off x="4572000" y="4983480"/>
            <a:ext cx="3017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payment and the end date are saved together, or neither is.</a:t>
            </a:r>
            <a:endParaRPr lang="en-US" sz="1400" dirty="0"/>
          </a:p>
        </p:txBody>
      </p:sp>
      <p:sp>
        <p:nvSpPr>
          <p:cNvPr id="21" name="card"/>
          <p:cNvSpPr/>
          <p:nvPr/>
        </p:nvSpPr>
        <p:spPr>
          <a:xfrm>
            <a:off x="8046720" y="4343400"/>
            <a:ext cx="3520440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321040" y="45262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 row lock</a:t>
            </a:r>
            <a:endParaRPr lang="en-US" sz="1700" dirty="0"/>
          </a:p>
        </p:txBody>
      </p:sp>
      <p:sp>
        <p:nvSpPr>
          <p:cNvPr id="23" name="Text 20"/>
          <p:cNvSpPr txBox="1"/>
          <p:nvPr/>
        </p:nvSpPr>
        <p:spPr>
          <a:xfrm>
            <a:off x="8321040" y="4983480"/>
            <a:ext cx="3017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lockForUpdate makes a second payment wait and count from the new date.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08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Who may watch what</a:t>
            </a:r>
            <a:endParaRPr lang="en-US" sz="3200" dirty="0"/>
          </a:p>
        </p:txBody>
      </p:sp>
      <p:sp>
        <p:nvSpPr>
          <p:cNvPr id="5" name="card"/>
          <p:cNvSpPr/>
          <p:nvPr/>
        </p:nvSpPr>
        <p:spPr>
          <a:xfrm>
            <a:off x="548640" y="1691640"/>
            <a:ext cx="251460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69164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Account and title active?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063240" y="2258568"/>
            <a:ext cx="320040" cy="914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8" name="Shape 5"/>
          <p:cNvSpPr/>
          <p:nvPr/>
        </p:nvSpPr>
        <p:spPr>
          <a:xfrm>
            <a:off x="1805940" y="2834640"/>
            <a:ext cx="914" cy="411480"/>
          </a:xfrm>
          <a:prstGeom prst="line">
            <a:avLst/>
          </a:prstGeom>
          <a:noFill/>
          <a:ln w="15875">
            <a:solidFill>
              <a:schemeClr val="accent5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329184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no: refused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3383280" y="1691640"/>
            <a:ext cx="251460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566160" y="169164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Premium?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897880" y="2258568"/>
            <a:ext cx="320040" cy="914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4640580" y="2834640"/>
            <a:ext cx="914" cy="411480"/>
          </a:xfrm>
          <a:prstGeom prst="line">
            <a:avLst/>
          </a:prstGeom>
          <a:noFill/>
          <a:ln w="15875">
            <a:solidFill>
              <a:schemeClr val="accent5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383280" y="329184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no: free</a:t>
            </a:r>
            <a:endParaRPr lang="en-US" sz="1400" dirty="0"/>
          </a:p>
        </p:txBody>
      </p:sp>
      <p:sp>
        <p:nvSpPr>
          <p:cNvPr id="15" name="card"/>
          <p:cNvSpPr/>
          <p:nvPr/>
        </p:nvSpPr>
        <p:spPr>
          <a:xfrm>
            <a:off x="6217920" y="1691640"/>
            <a:ext cx="251460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00800" y="169164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Active plan?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8732520" y="2258568"/>
            <a:ext cx="320040" cy="914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7475220" y="2834640"/>
            <a:ext cx="914" cy="411480"/>
          </a:xfrm>
          <a:prstGeom prst="line">
            <a:avLst/>
          </a:prstGeom>
          <a:noFill/>
          <a:ln w="15875">
            <a:solidFill>
              <a:schemeClr val="accent5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217920" y="329184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yes: allowed</a:t>
            </a:r>
            <a:endParaRPr lang="en-US" sz="1400" dirty="0"/>
          </a:p>
        </p:txBody>
      </p:sp>
      <p:sp>
        <p:nvSpPr>
          <p:cNvPr id="20" name="card"/>
          <p:cNvSpPr/>
          <p:nvPr/>
        </p:nvSpPr>
        <p:spPr>
          <a:xfrm>
            <a:off x="9052560" y="1691640"/>
            <a:ext cx="251460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35440" y="169164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Movie rented?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10309860" y="2834640"/>
            <a:ext cx="914" cy="411480"/>
          </a:xfrm>
          <a:prstGeom prst="line">
            <a:avLst/>
          </a:prstGeom>
          <a:noFill/>
          <a:ln w="15875">
            <a:solidFill>
              <a:schemeClr val="accent5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052560" y="329184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yes: allowed until it expires</a:t>
            </a:r>
            <a:endParaRPr lang="en-US" sz="1400" dirty="0"/>
          </a:p>
        </p:txBody>
      </p:sp>
      <p:sp>
        <p:nvSpPr>
          <p:cNvPr id="24" name="card"/>
          <p:cNvSpPr/>
          <p:nvPr/>
        </p:nvSpPr>
        <p:spPr>
          <a:xfrm>
            <a:off x="548640" y="4160520"/>
            <a:ext cx="11064240" cy="731520"/>
          </a:xfrm>
          <a:prstGeom prst="roundRect">
            <a:avLst>
              <a:gd name="adj" fmla="val 15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48640" y="41605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Refused: needs a plan, or a rental if the movie has a rent price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51663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An episode is premium on its own or through its series. One AccessService is used everywhere, and the dashboard shows it per user so support can answer complaints.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09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Rentals and coupons</a:t>
            </a:r>
            <a:endParaRPr lang="en-US" sz="3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457200" cy="45720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188720" y="169164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Renting one movie</a:t>
            </a:r>
            <a:endParaRPr lang="en-US" sz="20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2377440"/>
            <a:ext cx="5120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Only premium movies with a rent price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Lasts rent_days days from payment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Active subscribers cannot rent: it is already included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The same movie cannot be rented twice at once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6080760" y="1737360"/>
            <a:ext cx="914" cy="2834640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9" name="card"/>
          <p:cNvSpPr/>
          <p:nvPr/>
        </p:nvSpPr>
        <p:spPr>
          <a:xfrm>
            <a:off x="548640" y="4892040"/>
            <a:ext cx="1106424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22960" y="4892040"/>
            <a:ext cx="10515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Example: an active subscriber tries to rent a premium movie → refused, because the plan already includes it. Nobody pays twice, and refund requests drop.</a:t>
            </a:r>
            <a:endParaRPr lang="en-US" sz="15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91640"/>
            <a:ext cx="457200" cy="45720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7132320" y="169164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Coupons</a:t>
            </a:r>
            <a:endParaRPr lang="en-US" sz="2000" dirty="0"/>
          </a:p>
        </p:txBody>
      </p:sp>
      <p:sp>
        <p:nvSpPr>
          <p:cNvPr id="13" name="Text 8"/>
          <p:cNvSpPr txBox="1"/>
          <p:nvPr/>
        </p:nvSpPr>
        <p:spPr>
          <a:xfrm>
            <a:off x="6492240" y="2377440"/>
            <a:ext cx="5120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Fixed amount or percentage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Only valid between its start and end dates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Never takes a price below zero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 single-use coupon works once per user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10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Why this stack</a:t>
            </a:r>
            <a:endParaRPr lang="en-US" sz="3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642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7955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9E57"/>
                          </a:solidFill>
                        </a:rPr>
                        <a:t>Choice</a:t>
                      </a:r>
                      <a:endParaRPr lang="en-US" sz="15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9E57"/>
                          </a:solidFill>
                        </a:rPr>
                        <a:t>Why</a:t>
                      </a:r>
                      <a:endParaRPr lang="en-US" sz="15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5211B"/>
                          </a:solidFill>
                        </a:rPr>
                        <a:t>Laravel 10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5211B"/>
                          </a:solidFill>
                        </a:rPr>
                        <a:t>The dashboard: forms, validation, CRUD. My part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5211B"/>
                          </a:solidFill>
                        </a:rPr>
                        <a:t>PostgreSQL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5211B"/>
                          </a:solidFill>
                        </a:rPr>
                        <a:t>Shared with the Go API; transactions and row locks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5211B"/>
                          </a:solidFill>
                        </a:rPr>
                        <a:t>Go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5211B"/>
                          </a:solidFill>
                        </a:rPr>
                        <a:t>The apps' API: heavy playback traffic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5211B"/>
                          </a:solidFill>
                        </a:rPr>
                        <a:t>Blade + Chart.js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5211B"/>
                          </a:solidFill>
                        </a:rPr>
                        <a:t>An internal admin needs no SPA; one chart needs only Chart.js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11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 renewal is one transaction</a:t>
            </a:r>
            <a:endParaRPr lang="en-US" sz="3200" dirty="0"/>
          </a:p>
        </p:txBody>
      </p:sp>
      <p:sp>
        <p:nvSpPr>
          <p:cNvPr id="5" name="card"/>
          <p:cNvSpPr/>
          <p:nvPr/>
        </p:nvSpPr>
        <p:spPr>
          <a:xfrm>
            <a:off x="548640" y="1600200"/>
            <a:ext cx="6949440" cy="3931920"/>
          </a:xfrm>
          <a:prstGeom prst="roundRect">
            <a:avLst>
              <a:gd name="adj" fmla="val 279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1920240"/>
            <a:ext cx="64922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DB::transaction(function () use (...) {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$user = User::lockForUpdate()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-&gt;findOrFail($user-&gt;id);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$startsOn = $user-&gt;subscription_ends_on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?-&gt;gte($today)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? $user-&gt;subscription_ends_on-&gt;addDay()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: $today;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$endsOn = $startsOn-&gt;copy()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-&gt;addMonthsNoOverflow($months)-&gt;subDay();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$user-&gt;subscriptions()-&gt;create([...]);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$user-&gt;update(['subscription_ends_on' =&gt; $endsOn]);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863840" y="164592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Rules in services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863840" y="210312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Thin controllers; plans, rentals, coupons and access are plain classes.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863840" y="310896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Enums, not numbers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7863840" y="356616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Sign-in, role and coupon type are typed.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7863840" y="457200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Tests on the rules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7863840" y="502920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33 feature tests.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12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Demo: revenue, then a user's access check</a:t>
            </a:r>
            <a:endParaRPr lang="en-US" sz="3200" dirty="0"/>
          </a:p>
        </p:txBody>
      </p:sp>
      <p:pic>
        <p:nvPicPr>
          <p:cNvPr id="5" name="dashboard" descr="/workspaces/.xc-work/assets/goflix/en-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5349240" cy="3343275"/>
          </a:xfrm>
          <a:prstGeom prst="rect">
            <a:avLst/>
          </a:prstGeom>
          <a:effectLst>
            <a:outerShdw sx="100000" sy="100000" kx="0" ky="0" algn="bl" rotWithShape="0" blurRad="152400" dist="50800" dir="5400000">
              <a:srgbClr val="0D1D15">
                <a:alpha val="22000"/>
              </a:srgbClr>
            </a:outerShdw>
          </a:effectLst>
        </p:spPr>
      </p:pic>
      <p:pic>
        <p:nvPicPr>
          <p:cNvPr id="6" name="user page" descr="/workspaces/.xc-work/assets/goflix/en-us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600200"/>
            <a:ext cx="5349240" cy="3343275"/>
          </a:xfrm>
          <a:prstGeom prst="rect">
            <a:avLst/>
          </a:prstGeom>
          <a:effectLst>
            <a:outerShdw sx="100000" sy="100000" kx="0" ky="0" algn="bl" rotWithShape="0" blurRad="152400" dist="50800" dir="5400000">
              <a:srgbClr val="0D1D15">
                <a:alpha val="22000"/>
              </a:srgbClr>
            </a:outerShdw>
          </a:effectLst>
        </p:spPr>
      </p:pic>
      <p:sp>
        <p:nvSpPr>
          <p:cNvPr id="7" name="Text 2"/>
          <p:cNvSpPr txBox="1"/>
          <p:nvPr/>
        </p:nvSpPr>
        <p:spPr>
          <a:xfrm>
            <a:off x="548640" y="5126355"/>
            <a:ext cx="5349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Dashboard: plan and rental revenue per month</a:t>
            </a:r>
            <a:endParaRPr lang="en-US" sz="1300" dirty="0"/>
          </a:p>
        </p:txBody>
      </p:sp>
      <p:sp>
        <p:nvSpPr>
          <p:cNvPr id="8" name="Text 3"/>
          <p:cNvSpPr txBox="1"/>
          <p:nvPr/>
        </p:nvSpPr>
        <p:spPr>
          <a:xfrm>
            <a:off x="6263640" y="5126355"/>
            <a:ext cx="5349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User page: status, payments and the access check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13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What is not done yet</a:t>
            </a:r>
            <a:endParaRPr lang="en-US" sz="3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6424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7040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9E57"/>
                          </a:solidFill>
                        </a:rPr>
                        <a:t>Not done yet</a:t>
                      </a:r>
                      <a:endParaRPr lang="en-US" sz="15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9E57"/>
                          </a:solidFill>
                        </a:rPr>
                        <a:t>First step</a:t>
                      </a:r>
                      <a:endParaRPr lang="en-US" sz="15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5211B"/>
                          </a:solidFill>
                        </a:rPr>
                        <a:t>Production still stores comma-separated ids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5211B"/>
                          </a:solidFill>
                        </a:rPr>
                        <a:t>Add the pivot tables, fill them from the old columns, move readers one by one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5211B"/>
                          </a:solidFill>
                        </a:rPr>
                        <a:t>The access rule lives in Go and in Laravel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5211B"/>
                          </a:solidFill>
                        </a:rPr>
                        <a:t>One shared set of test cases that both sides run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5211B"/>
                          </a:solidFill>
                        </a:rPr>
                        <a:t>watch_history keeps growing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5211B"/>
                          </a:solidFill>
                        </a:rPr>
                        <a:t>Partition by month; reports from a daily summary table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5211B"/>
                          </a:solidFill>
                        </a:rPr>
                        <a:t>Production has no foreign keys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5211B"/>
                          </a:solidFill>
                        </a:rPr>
                        <a:t>Foreign keys and indexes on the access-check and report columns</a:t>
                      </a:r>
                      <a:endParaRPr lang="en-US" sz="1700" dirty="0"/>
                    </a:p>
                  </a:txBody>
                  <a:tcPr marL="164592" marR="164592" marT="182880" marB="182880" anchor="t">
                    <a:lnL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737360"/>
            <a:ext cx="5669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Demo and slides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2918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5"/>
                </a:solidFill>
              </a:rPr>
              <a:t>Live demo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3108960" y="3291840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u="sng" dirty="0">
                <a:solidFill>
                  <a:schemeClr val="bg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https://goflix-dashboard-demo.vercel.app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9319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5"/>
                </a:solidFill>
              </a:rPr>
              <a:t>Slides (PDF)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3108960" y="3931920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u="sng" dirty="0">
                <a:solidFill>
                  <a:schemeClr val="bg1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https://goflix-dashboard-demo.vercel.app/goflix-walkthrough.pdf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5720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5"/>
                </a:solidFill>
              </a:rPr>
              <a:t>Slides (PPTX)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3108960" y="4572000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u="sng" dirty="0">
                <a:solidFill>
                  <a:schemeClr val="bg1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https://goflix-dashboard-demo.vercel.app/goflix-walkthrough.pptx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54864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The demo code is in a private GitHub repo; access is given during the interview. The dashboard speaks Bahasa Indonesia and English; demo data is restored every 3 hours.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oflix Screening Room">
  <a:themeElements>
    <a:clrScheme name="Goflix Screening Room">
      <a:dk1>
        <a:srgbClr val="15211B"/>
      </a:dk1>
      <a:lt1>
        <a:srgbClr val="FFFFFF"/>
      </a:lt1>
      <a:dk2>
        <a:srgbClr val="0D1D15"/>
      </a:dk2>
      <a:lt2>
        <a:srgbClr val="EEF3EF"/>
      </a:lt2>
      <a:accent1>
        <a:srgbClr val="1E9E57"/>
      </a:accent1>
      <a:accent2>
        <a:srgbClr val="C9971C"/>
      </a:accent2>
      <a:accent3>
        <a:srgbClr val="C8433A"/>
      </a:accent3>
      <a:accent4>
        <a:srgbClr val="5B6B62"/>
      </a:accent4>
      <a:accent5>
        <a:srgbClr val="A7B6AD"/>
      </a:accent5>
      <a:accent6>
        <a:srgbClr val="D6E2DA"/>
      </a:accent6>
      <a:hlink>
        <a:srgbClr val="1E9E57"/>
      </a:hlink>
      <a:folHlink>
        <a:srgbClr val="5B6B62"/>
      </a:folHlink>
    </a:clrScheme>
    <a:fontScheme name="Goflix Screening Room">
      <a:majorFont>
        <a:latin typeface="Bookman Old Style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Goflix: the streaming platform's admin dashboard</dc:title>
  <dc:subject>PptxGenJS Presentation</dc:subject>
  <dc:creator>Enrico Saputra</dc:creator>
  <cp:lastModifiedBy>Enrico Saputra</cp:lastModifiedBy>
  <cp:revision>1</cp:revision>
  <dcterms:created xsi:type="dcterms:W3CDTF">2026-10-20T06:59:27Z</dcterms:created>
  <dcterms:modified xsi:type="dcterms:W3CDTF">2026-10-20T06:59:27Z</dcterms:modified>
</cp:coreProperties>
</file>