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0a6362f2-a67a-662d-8a32-3130040ee75a}">
          <p14:sldIdLst>
            <p14:sldId id="256"/>
          </p14:sldIdLst>
        </p14:section>
        <p14:section name="Product" id="{e14373ae-48fb-7ef0-d41c-96d1fdaa5beb}">
          <p14:sldIdLst>
            <p14:sldId id="257"/>
            <p14:sldId id="258"/>
            <p14:sldId id="259"/>
            <p14:sldId id="260"/>
          </p14:sldIdLst>
        </p14:section>
        <p14:section name="System design" id="{2e4ba230-3fa4-ec8d-748c-df081d004721}">
          <p14:sldIdLst>
            <p14:sldId id="261"/>
            <p14:sldId id="262"/>
            <p14:sldId id="263"/>
            <p14:sldId id="264"/>
            <p14:sldId id="265"/>
          </p14:sldIdLst>
        </p14:section>
        <p14:section name="Business rules" id="{39c24383-126b-481c-04e9-7c07a8900eea}">
          <p14:sldIdLst>
            <p14:sldId id="266"/>
            <p14:sldId id="267"/>
            <p14:sldId id="268"/>
          </p14:sldIdLst>
        </p14:section>
        <p14:section name="Code" id="{e5144a98-7945-cb62-a30e-d26ad0eca381}">
          <p14:sldIdLst>
            <p14:sldId id="269"/>
            <p14:sldId id="270"/>
            <p14:sldId id="271"/>
          </p14:sldIdLst>
        </p14:section>
        <p14:section name="Closing" id="{be67bfae-77af-7e07-4c99-9c23caf98b5f}">
          <p14:sldIdLst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Framing: Goflix has three parts. I built the Laravel dashboard. The demo rebuilds that dashboard with made-up data because the real code is under NDA.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is the viewer app (Vue and Go), not my part. Right is the dashboard I built, in its demo 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rule in this deck turns on these three ways in. Point out that an episode can be premium on its own or through its series.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the viewer's point of view. The dashboard I built is the team's tool behind these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the demo dashboard menus, the same as the part of the production dashboard I worked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for heavy playback traffic, Laravel for the internal team's forms and CRUD. Both write to the same PostgreSQL.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Production has about 40 tables, including games, music, radio and banners. The demo keeps the tables that carry the dashboard rules.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Movies, series, episodes and seasons, with pivot tables for genres, languages and cast.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Plans, subscriptions, rentals and coupons. users.subscription_ends_on serves the fast access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design point to discuss: why the old pattern hurts and how to fix it without downtime.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it in the demo: add a plan for a user who is still subscribed and watch the end date move 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rule the Go API runs before playback. The dashboard has a Check button on the user page.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subscribers-cannot-rent rule stops people paying twice and cuts refund requests.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 each row, have one example from this project ready.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app/Services/SubscriptionService.php in the demo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demo: check a premium movie for a user without a plan, add a rental, then check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links and offer to open the demo or the code.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F Cover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F 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355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Goflix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goflix-dashboard-demo.vercel.app" TargetMode="External"/><Relationship Id="rId2" Type="http://schemas.openxmlformats.org/officeDocument/2006/relationships/hyperlink" Target="https://goflix-dashboard-demo.vercel.app/goflix-walkthrough.pdf" TargetMode="External"/><Relationship Id="rId3" Type="http://schemas.openxmlformats.org/officeDocument/2006/relationships/hyperlink" Target="https://goflix-dashboard-demo.vercel.app/goflix-walkthrough.pptx" TargetMode="External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flix viewer app" descr="/workspaces/.xc-work/assets/goflix/site-t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02552" y="0"/>
            <a:ext cx="54864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02552" y="0"/>
            <a:ext cx="5486400" cy="6858000"/>
          </a:xfrm>
          <a:prstGeom prst="rect">
            <a:avLst/>
          </a:prstGeom>
          <a:solidFill>
            <a:schemeClr val="tx2">
              <a:alpha val="40000"/>
            </a:schemeClr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640080" y="13258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chemeClr val="accent1"/>
                </a:solidFill>
              </a:rPr>
              <a:t>STREAMING PLATFORM</a:t>
            </a:r>
            <a:endParaRPr lang="en-US" sz="1300" dirty="0"/>
          </a:p>
        </p:txBody>
      </p:sp>
      <p:sp>
        <p:nvSpPr>
          <p:cNvPr id="5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Goflix</a:t>
            </a:r>
            <a:endParaRPr lang="en-US" sz="6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154680"/>
            <a:ext cx="5669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6"/>
                </a:solidFill>
              </a:rPr>
              <a:t>The admin dashboard behind the catalog, the plans, and who may watch what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5120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Enrico Saputra  ·  Backend developer, Laravel dashboard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55321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Client code and data are private. The demo rebuilds the Laravel dashboard on the real data model, with made-up data.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Viewers see this; the team works here</a:t>
            </a:r>
            <a:endParaRPr lang="en-US" sz="3200" dirty="0"/>
          </a:p>
        </p:txBody>
      </p:sp>
      <p:pic>
        <p:nvPicPr>
          <p:cNvPr id="5" name="viewer app" descr="/workspaces/.xc-work/assets/goflix/s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49240" cy="2628239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pic>
        <p:nvPicPr>
          <p:cNvPr id="6" name="dashboard" descr="/workspaces/.xc-work/assets/goflix/en-dashboard-wid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49240" cy="2628239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sp>
        <p:nvSpPr>
          <p:cNvPr id="7" name="Shape 2"/>
          <p:cNvSpPr/>
          <p:nvPr/>
        </p:nvSpPr>
        <p:spPr>
          <a:xfrm>
            <a:off x="548640" y="4434840"/>
            <a:ext cx="3108960" cy="384048"/>
          </a:xfrm>
          <a:prstGeom prst="roundRect">
            <a:avLst>
              <a:gd name="adj" fmla="val 2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48640" y="44348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Viewer app · Vue + Go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6263640" y="4434840"/>
            <a:ext cx="3566160" cy="384048"/>
          </a:xfrm>
          <a:prstGeom prst="roundRect">
            <a:avLst>
              <a:gd name="adj" fmla="val 2381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6263640" y="4434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Dashboard · Laravel · my part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507492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The content team adds movies and episodes, the business team sets plans and coupons, and support answers "why can't I watch this?"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ways to watch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68680" y="1920240"/>
            <a:ext cx="822960" cy="8229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9848" y="2121408"/>
            <a:ext cx="420624" cy="42062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868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Free</a:t>
            </a:r>
            <a:endParaRPr lang="en-US" sz="2400" dirty="0"/>
          </a:p>
        </p:txBody>
      </p:sp>
      <p:sp>
        <p:nvSpPr>
          <p:cNvPr id="9" name="Text 5"/>
          <p:cNvSpPr txBox="1"/>
          <p:nvPr/>
        </p:nvSpPr>
        <p:spPr>
          <a:xfrm>
            <a:off x="86868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Free titles play for anyone with an active account.</a:t>
            </a:r>
            <a:endParaRPr lang="en-US" sz="1500" dirty="0"/>
          </a:p>
        </p:txBody>
      </p:sp>
      <p:sp>
        <p:nvSpPr>
          <p:cNvPr id="10" name="card"/>
          <p:cNvSpPr/>
          <p:nvPr/>
        </p:nvSpPr>
        <p:spPr>
          <a:xfrm>
            <a:off x="429768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617720" y="1920240"/>
            <a:ext cx="822960" cy="822960"/>
          </a:xfrm>
          <a:prstGeom prst="ellipse">
            <a:avLst/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121408"/>
            <a:ext cx="420624" cy="42062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461772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Plan</a:t>
            </a:r>
            <a:endParaRPr lang="en-US" sz="2400" dirty="0"/>
          </a:p>
        </p:txBody>
      </p:sp>
      <p:sp>
        <p:nvSpPr>
          <p:cNvPr id="14" name="Text 9"/>
          <p:cNvSpPr txBox="1"/>
          <p:nvPr/>
        </p:nvSpPr>
        <p:spPr>
          <a:xfrm>
            <a:off x="461772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A monthly or yearly plan opens every premium title.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8046720" y="1600200"/>
            <a:ext cx="3520440" cy="2926080"/>
          </a:xfrm>
          <a:prstGeom prst="roundRect">
            <a:avLst>
              <a:gd name="adj" fmla="val 375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8366760" y="1920240"/>
            <a:ext cx="822960" cy="822960"/>
          </a:xfrm>
          <a:prstGeom prst="ellipse">
            <a:avLst/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7928" y="2121408"/>
            <a:ext cx="420624" cy="42062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366760" y="29718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Rental</a:t>
            </a:r>
            <a:endParaRPr lang="en-US" sz="2400" dirty="0"/>
          </a:p>
        </p:txBody>
      </p:sp>
      <p:sp>
        <p:nvSpPr>
          <p:cNvPr id="19" name="Text 13"/>
          <p:cNvSpPr txBox="1"/>
          <p:nvPr/>
        </p:nvSpPr>
        <p:spPr>
          <a:xfrm>
            <a:off x="8366760" y="356616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4"/>
                </a:solidFill>
              </a:rPr>
              <a:t>One premium movie, for a few days, without a plan.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49377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My part: the catalog, plans and coupons, users and payments, and the reports on them.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About the app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417320"/>
            <a:ext cx="5257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Goflix is a streaming platform for local and international movies and series, on the web (Vue.js) and on mobile. Some titles are free; premium titles open with a monthly or yearly plan, or by renting a single movie.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3154680"/>
            <a:ext cx="5257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Who uses it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61188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Viewers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3950208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Watch, save titles and continue where they stopped.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453128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Content and business team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4791456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Manage the catalog, plans, prices and coupons in the dashboard.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294376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Support team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5632704"/>
            <a:ext cx="5257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Check why a user can or cannot watch something.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172200" y="1417320"/>
            <a:ext cx="5440680" cy="4709160"/>
          </a:xfrm>
          <a:prstGeom prst="roundRect">
            <a:avLst>
              <a:gd name="adj" fmla="val 194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446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User journey</a:t>
            </a:r>
            <a:endParaRPr lang="en-US" sz="1700" dirty="0"/>
          </a:p>
        </p:txBody>
      </p:sp>
      <p:sp>
        <p:nvSpPr>
          <p:cNvPr id="15" name="Shape 12"/>
          <p:cNvSpPr/>
          <p:nvPr/>
        </p:nvSpPr>
        <p:spPr>
          <a:xfrm>
            <a:off x="6446520" y="2194560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4652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7086600" y="2103120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viewer signs in on the web or mobile app.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46520" y="2962656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446520" y="29626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086600" y="2871216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browse movies and series by genre.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46520" y="3730752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446520" y="3730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7086600" y="3639312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Free titles play right away; premium titles ask for a plan or a rental.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446520" y="4498848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446520" y="44988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7086600" y="4407408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They pay for a plan or rental through the payment gateway and get access.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446520" y="5266944"/>
            <a:ext cx="457200" cy="4572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446520" y="5266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5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7086600" y="5175504"/>
            <a:ext cx="4343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Viewing history is saved, so they can continue from where they stopped.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What the dashboard contains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5257800"/>
                <a:gridCol w="3429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Menu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What it does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Data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Dashboard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Revenue per month, active subscribers, hours watched, top movies and genres, plans sold, sign-in methods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subscriptions, rentals, watch_history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Movies, Series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The catalog: movies, series with episodes per season, free or premium, rent price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movies, shows, episodes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Genres, Languages, Cast, Seasons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Master data for the catalog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genres, languages, people, seasons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Users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Subscription status, payments, continue watching and an access check per title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users, watch_history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Subscriptions, Rentals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Payment records; can be added, never edited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subscriptions, rentals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11B"/>
                          </a:solidFill>
                        </a:rPr>
                        <a:t>Plans, Coupons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Plan price and length, plan-card lines, discount coupons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11B"/>
                          </a:solidFill>
                        </a:rPr>
                        <a:t>packages, coupons</a:t>
                      </a:r>
                      <a:endParaRPr lang="en-US" sz="14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Three parts, one database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45920"/>
            <a:ext cx="22860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6459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Vue.js web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548640" y="2606040"/>
            <a:ext cx="2286000" cy="685800"/>
          </a:xfrm>
          <a:prstGeom prst="roundRect">
            <a:avLst>
              <a:gd name="adj" fmla="val 16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26060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Mobile app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3749040" y="2103120"/>
            <a:ext cx="2011680" cy="777240"/>
          </a:xfrm>
          <a:prstGeom prst="roundRect">
            <a:avLst>
              <a:gd name="adj" fmla="val 14118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749040" y="21031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Go API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6675120" y="2103120"/>
            <a:ext cx="21031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67512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PostgreSQL</a:t>
            </a:r>
            <a:endParaRPr lang="en-US" sz="1500" dirty="0"/>
          </a:p>
        </p:txBody>
      </p:sp>
      <p:sp>
        <p:nvSpPr>
          <p:cNvPr id="13" name="card"/>
          <p:cNvSpPr/>
          <p:nvPr/>
        </p:nvSpPr>
        <p:spPr>
          <a:xfrm>
            <a:off x="9509760" y="2103120"/>
            <a:ext cx="2103120" cy="777240"/>
          </a:xfrm>
          <a:prstGeom prst="roundRect">
            <a:avLst>
              <a:gd name="adj" fmla="val 14118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509760" y="2103120"/>
            <a:ext cx="2103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Laravel dashboard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3749040" y="3474720"/>
            <a:ext cx="2011680" cy="6858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 w="12700">
            <a:solidFill>
              <a:schemeClr val="bg1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749040" y="347472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Payment gateway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3749040" y="3474720"/>
            <a:ext cx="2011680" cy="685800"/>
          </a:xfrm>
          <a:prstGeom prst="roundRect">
            <a:avLst>
              <a:gd name="adj" fmla="val 16000"/>
            </a:avLst>
          </a:prstGeom>
          <a:ln w="15875">
            <a:solidFill>
              <a:schemeClr val="accent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1993392"/>
            <a:ext cx="914400" cy="38404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9" name="Shape 16"/>
          <p:cNvSpPr/>
          <p:nvPr/>
        </p:nvSpPr>
        <p:spPr>
          <a:xfrm flipV="1">
            <a:off x="2834640" y="2606040"/>
            <a:ext cx="914400" cy="338328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760720" y="2487168"/>
            <a:ext cx="9144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1" name="Shape 18"/>
          <p:cNvSpPr/>
          <p:nvPr/>
        </p:nvSpPr>
        <p:spPr>
          <a:xfrm flipH="1">
            <a:off x="8778240" y="2487168"/>
            <a:ext cx="73152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4754880" y="2880360"/>
            <a:ext cx="914" cy="594360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dash"/>
            <a:tailEnd type="triangle"/>
          </a:ln>
        </p:spPr>
      </p:sp>
      <p:sp>
        <p:nvSpPr>
          <p:cNvPr id="23" name="Text 20"/>
          <p:cNvSpPr txBox="1"/>
          <p:nvPr/>
        </p:nvSpPr>
        <p:spPr>
          <a:xfrm>
            <a:off x="54864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Two writers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API writes activity and in-app payments; the dashboard writes the catalog, plans and corrections.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429768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The server decides</a:t>
            </a:r>
            <a:endParaRPr lang="en-US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app never decides access on its own. The dashboard shows support the same rule.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046720" y="452628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No API in the dashboard</a:t>
            </a:r>
            <a:endParaRPr lang="en-US" sz="1700" dirty="0"/>
          </a:p>
        </p:txBody>
      </p:sp>
      <p:sp>
        <p:nvSpPr>
          <p:cNvPr id="28" name="Text 25"/>
          <p:cNvSpPr txBox="1"/>
          <p:nvPr/>
        </p:nvSpPr>
        <p:spPr>
          <a:xfrm>
            <a:off x="8046720" y="4983480"/>
            <a:ext cx="3520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Everything the apps need goes through the Go API.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06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data model in three groups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384048" cy="38404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32588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Catalog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82296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82296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movies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35915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35915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shows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822960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22960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episodes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359152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2359152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seasons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22960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822960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genres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359152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359152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languages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822960" y="4169664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822960" y="4169664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people</a:t>
            </a:r>
            <a:endParaRPr lang="en-US" sz="1100" dirty="0"/>
          </a:p>
        </p:txBody>
      </p:sp>
      <p:sp>
        <p:nvSpPr>
          <p:cNvPr id="22" name="card"/>
          <p:cNvSpPr/>
          <p:nvPr/>
        </p:nvSpPr>
        <p:spPr>
          <a:xfrm>
            <a:off x="429768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84048" cy="384048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507492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Users and money</a:t>
            </a:r>
            <a:endParaRPr lang="en-US" sz="1700" dirty="0"/>
          </a:p>
        </p:txBody>
      </p:sp>
      <p:sp>
        <p:nvSpPr>
          <p:cNvPr id="25" name="Shape 20"/>
          <p:cNvSpPr/>
          <p:nvPr/>
        </p:nvSpPr>
        <p:spPr>
          <a:xfrm>
            <a:off x="457200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457200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10819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610819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packages</a:t>
            </a:r>
            <a:endParaRPr lang="en-US" sz="1100" dirty="0"/>
          </a:p>
        </p:txBody>
      </p:sp>
      <p:sp>
        <p:nvSpPr>
          <p:cNvPr id="29" name="Shape 24"/>
          <p:cNvSpPr/>
          <p:nvPr/>
        </p:nvSpPr>
        <p:spPr>
          <a:xfrm>
            <a:off x="4572000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0" name="Text 25"/>
          <p:cNvSpPr txBox="1"/>
          <p:nvPr/>
        </p:nvSpPr>
        <p:spPr>
          <a:xfrm>
            <a:off x="4572000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package_features</a:t>
            </a:r>
            <a:endParaRPr lang="en-US" sz="950" dirty="0"/>
          </a:p>
        </p:txBody>
      </p:sp>
      <p:sp>
        <p:nvSpPr>
          <p:cNvPr id="31" name="Shape 26"/>
          <p:cNvSpPr/>
          <p:nvPr/>
        </p:nvSpPr>
        <p:spPr>
          <a:xfrm>
            <a:off x="6108192" y="3035808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2" name="Text 27"/>
          <p:cNvSpPr txBox="1"/>
          <p:nvPr/>
        </p:nvSpPr>
        <p:spPr>
          <a:xfrm>
            <a:off x="6108192" y="3035808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subscriptions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4572000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4572000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rentals</a:t>
            </a:r>
            <a:endParaRPr lang="en-US" sz="1100" dirty="0"/>
          </a:p>
        </p:txBody>
      </p:sp>
      <p:sp>
        <p:nvSpPr>
          <p:cNvPr id="35" name="Shape 30"/>
          <p:cNvSpPr/>
          <p:nvPr/>
        </p:nvSpPr>
        <p:spPr>
          <a:xfrm>
            <a:off x="6108192" y="3602736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36" name="Text 31"/>
          <p:cNvSpPr txBox="1"/>
          <p:nvPr/>
        </p:nvSpPr>
        <p:spPr>
          <a:xfrm>
            <a:off x="6108192" y="360273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coupons</a:t>
            </a:r>
            <a:endParaRPr lang="en-US" sz="1100" dirty="0"/>
          </a:p>
        </p:txBody>
      </p:sp>
      <p:sp>
        <p:nvSpPr>
          <p:cNvPr id="37" name="card"/>
          <p:cNvSpPr/>
          <p:nvPr/>
        </p:nvSpPr>
        <p:spPr>
          <a:xfrm>
            <a:off x="8046720" y="1600200"/>
            <a:ext cx="3520440" cy="384048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828800"/>
            <a:ext cx="384048" cy="384048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823960" y="1810512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Activity</a:t>
            </a:r>
            <a:endParaRPr lang="en-US" sz="1700" dirty="0"/>
          </a:p>
        </p:txBody>
      </p:sp>
      <p:sp>
        <p:nvSpPr>
          <p:cNvPr id="40" name="Text 34"/>
          <p:cNvSpPr txBox="1"/>
          <p:nvPr/>
        </p:nvSpPr>
        <p:spPr>
          <a:xfrm>
            <a:off x="8321040" y="31546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Written by the apps while people watch. The dashboard only reads it, for reports and continue watching.</a:t>
            </a:r>
            <a:endParaRPr lang="en-US" sz="1400" dirty="0"/>
          </a:p>
        </p:txBody>
      </p:sp>
      <p:sp>
        <p:nvSpPr>
          <p:cNvPr id="41" name="Shape 35"/>
          <p:cNvSpPr/>
          <p:nvPr/>
        </p:nvSpPr>
        <p:spPr>
          <a:xfrm>
            <a:off x="8321040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2" name="Text 36"/>
          <p:cNvSpPr txBox="1"/>
          <p:nvPr/>
        </p:nvSpPr>
        <p:spPr>
          <a:xfrm>
            <a:off x="8321040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watch_history</a:t>
            </a:r>
            <a:endParaRPr lang="en-US" sz="1100" dirty="0"/>
          </a:p>
        </p:txBody>
      </p:sp>
      <p:sp>
        <p:nvSpPr>
          <p:cNvPr id="43" name="Shape 37"/>
          <p:cNvSpPr/>
          <p:nvPr/>
        </p:nvSpPr>
        <p:spPr>
          <a:xfrm>
            <a:off x="9857232" y="2468880"/>
            <a:ext cx="1444752" cy="420624"/>
          </a:xfrm>
          <a:prstGeom prst="roundRect">
            <a:avLst>
              <a:gd name="adj" fmla="val 17391"/>
            </a:avLst>
          </a:prstGeom>
          <a:solidFill>
            <a:schemeClr val="bg1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4" name="Text 38"/>
          <p:cNvSpPr txBox="1"/>
          <p:nvPr/>
        </p:nvSpPr>
        <p:spPr>
          <a:xfrm>
            <a:off x="9857232" y="2468880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bookmarks</a:t>
            </a:r>
            <a:endParaRPr lang="en-US" sz="1100" dirty="0"/>
          </a:p>
        </p:txBody>
      </p:sp>
      <p:sp>
        <p:nvSpPr>
          <p:cNvPr id="45" name="Text 39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users.subscription_ends_on is the source of truth for a fast access check; only SubscriptionService may change it.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07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Database 1/2: the catalog</a:t>
            </a:r>
            <a:endParaRPr lang="en-US" sz="3200" dirty="0"/>
          </a:p>
        </p:txBody>
      </p:sp>
      <p:pic>
        <p:nvPicPr>
          <p:cNvPr id="5" name="ERD catalog" descr="/workspaces/.xc-work/erd/goflix-catalog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44725" y="1325880"/>
            <a:ext cx="5472070" cy="4526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Movies, series, episodes and seasons, with pivot tables for genres, languages and cast. Boxes without columns are tables from the other part.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08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Database 2/2: users and payments</a:t>
            </a:r>
            <a:endParaRPr lang="en-US" sz="3200" dirty="0"/>
          </a:p>
        </p:txBody>
      </p:sp>
      <p:pic>
        <p:nvPicPr>
          <p:cNvPr id="5" name="ERD users" descr="/workspaces/.xc-work/erd/goflix-users-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5433" y="1325880"/>
            <a:ext cx="6070655" cy="452628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48640" y="59436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4"/>
                </a:solidFill>
              </a:rPr>
              <a:t>Plans, subscriptions, rentals and coupons. users.subscription_ends_on serves the fast access check. Boxes without columns are tables from the other part.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09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Relations: from text to pivot tables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Production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3774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video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id: 12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category_id: '6,12,19'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cast_id: '1,108,109,110'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686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Cannot be joined or indexed; deleted ids stay behind.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6492240" y="1600200"/>
            <a:ext cx="5120640" cy="3520440"/>
          </a:xfrm>
          <a:prstGeom prst="roundRect">
            <a:avLst>
              <a:gd name="adj" fmla="val 3117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812280" y="17830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Demo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377440"/>
            <a:ext cx="4480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genre_movie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6)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12)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(movie_id 12, genre_id 19)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12280" y="4160520"/>
            <a:ext cx="4480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Foreign keys, normal joins, and the genre report is one query.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760720" y="3337560"/>
            <a:ext cx="68580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4" name="Text 11"/>
          <p:cNvSpPr txBox="1"/>
          <p:nvPr/>
        </p:nvSpPr>
        <p:spPr>
          <a:xfrm>
            <a:off x="548640" y="53949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Gradual migration: add the pivot, fill it from the old column, move readers one by one, then drop the old column.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10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Renewing without losing paid days</a:t>
            </a:r>
            <a:endParaRPr lang="en-US" sz="32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6002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Active until 20 Mar, buys 12 months on 10 Mar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0574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6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20574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old: until 20 Mar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337560" y="2057400"/>
            <a:ext cx="827532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37560" y="2057400"/>
            <a:ext cx="8275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new: 21 Mar to 20 Mar next year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9718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Ended 31 Jan, buys 1 month on 10 Mar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48640" y="34290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4"/>
                </a:solidFill>
              </a:rPr>
              <a:t>lapsed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337560" y="3429000"/>
            <a:ext cx="2743200" cy="566928"/>
          </a:xfrm>
          <a:prstGeom prst="roundRect">
            <a:avLst>
              <a:gd name="adj" fmla="val 16129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37560" y="3429000"/>
            <a:ext cx="2743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10 Mar to 9 Apr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54864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2296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place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2296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Only SubscriptionService moves users.subscription_ends_on.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29768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57200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One transaction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The payment and the end date are saved together, or neither is.</a:t>
            </a:r>
            <a:endParaRPr lang="en-US" sz="1400" dirty="0"/>
          </a:p>
        </p:txBody>
      </p:sp>
      <p:sp>
        <p:nvSpPr>
          <p:cNvPr id="21" name="card"/>
          <p:cNvSpPr/>
          <p:nvPr/>
        </p:nvSpPr>
        <p:spPr>
          <a:xfrm>
            <a:off x="8046720" y="4343400"/>
            <a:ext cx="352044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321040" y="45262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A row lock</a:t>
            </a:r>
            <a:endParaRPr lang="en-US" sz="1700" dirty="0"/>
          </a:p>
        </p:txBody>
      </p:sp>
      <p:sp>
        <p:nvSpPr>
          <p:cNvPr id="23" name="Text 20"/>
          <p:cNvSpPr txBox="1"/>
          <p:nvPr/>
        </p:nvSpPr>
        <p:spPr>
          <a:xfrm>
            <a:off x="8321040" y="498348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lockForUpdate makes a second payment wait and count from the new date.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11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Who may watch what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3152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Account and title active?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06324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180594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no: refused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338328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6616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Premium?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89788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464058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no: free</a:t>
            </a:r>
            <a:endParaRPr lang="en-US" sz="1400" dirty="0"/>
          </a:p>
        </p:txBody>
      </p:sp>
      <p:sp>
        <p:nvSpPr>
          <p:cNvPr id="15" name="card"/>
          <p:cNvSpPr/>
          <p:nvPr/>
        </p:nvSpPr>
        <p:spPr>
          <a:xfrm>
            <a:off x="621792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40080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Active plan?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732520" y="2258568"/>
            <a:ext cx="320040" cy="914"/>
          </a:xfrm>
          <a:prstGeom prst="line">
            <a:avLst/>
          </a:prstGeom>
          <a:noFill/>
          <a:ln w="19050">
            <a:solidFill>
              <a:schemeClr val="accent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747522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1792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yes: allowed</a:t>
            </a:r>
            <a:endParaRPr lang="en-US" sz="1400" dirty="0"/>
          </a:p>
        </p:txBody>
      </p:sp>
      <p:sp>
        <p:nvSpPr>
          <p:cNvPr id="20" name="card"/>
          <p:cNvSpPr/>
          <p:nvPr/>
        </p:nvSpPr>
        <p:spPr>
          <a:xfrm>
            <a:off x="9052560" y="1691640"/>
            <a:ext cx="251460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9235440" y="1691640"/>
            <a:ext cx="2148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Movie rented?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309860" y="2834640"/>
            <a:ext cx="914" cy="41148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052560" y="3291840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yes: allowed until it expires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4160520"/>
            <a:ext cx="11064240" cy="731520"/>
          </a:xfrm>
          <a:prstGeom prst="roundRect">
            <a:avLst>
              <a:gd name="adj" fmla="val 15000"/>
            </a:avLst>
          </a:prstGeom>
          <a:solidFill>
            <a:schemeClr val="accent3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48640" y="4160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Refused: needs a plan, or a rental if the movie has a rent price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1663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episode is premium on its own or through its series. One AccessService is used everywhere, and the dashboard shows it per user so support can answer complaints.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12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Rentals and coupons</a:t>
            </a:r>
            <a:endParaRPr lang="en-US" sz="3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457200" cy="4572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118872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Renting one movie</a:t>
            </a:r>
            <a:endParaRPr lang="en-US" sz="20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3774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Only premium movies with a rent price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Lasts rent_days days from payment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Active subscribers cannot rent: it is already included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The same movie cannot be rented twice at once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6080760" y="1737360"/>
            <a:ext cx="914" cy="2834640"/>
          </a:xfrm>
          <a:prstGeom prst="line">
            <a:avLst/>
          </a:prstGeom>
          <a:noFill/>
          <a:ln w="12700">
            <a:solidFill>
              <a:schemeClr val="accent6"/>
            </a:solidFill>
            <a:prstDash val="solid"/>
          </a:ln>
        </p:spPr>
      </p:sp>
      <p:sp>
        <p:nvSpPr>
          <p:cNvPr id="9" name="card"/>
          <p:cNvSpPr/>
          <p:nvPr/>
        </p:nvSpPr>
        <p:spPr>
          <a:xfrm>
            <a:off x="548640" y="4892040"/>
            <a:ext cx="11064240" cy="1143000"/>
          </a:xfrm>
          <a:prstGeom prst="roundRect">
            <a:avLst>
              <a:gd name="adj" fmla="val 96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22960" y="489204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Example: an active subscriber tries to rent a premium movie → refused, because the plan already includes it. Nobody pays twice, and refund requests drop.</a:t>
            </a:r>
            <a:endParaRPr lang="en-US" sz="15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691640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132320" y="16916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Coupons</a:t>
            </a:r>
            <a:endParaRPr lang="en-US" sz="2000" dirty="0"/>
          </a:p>
        </p:txBody>
      </p:sp>
      <p:sp>
        <p:nvSpPr>
          <p:cNvPr id="13" name="Text 8"/>
          <p:cNvSpPr txBox="1"/>
          <p:nvPr/>
        </p:nvSpPr>
        <p:spPr>
          <a:xfrm>
            <a:off x="6492240" y="2377440"/>
            <a:ext cx="51206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Fixed amount or percentage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Only valid between its start and end dates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Never takes a price below zero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 single-use coupon works once per user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13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Why this stack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1106424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9552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Choice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1E9E57"/>
                          </a:solidFill>
                        </a:rPr>
                        <a:t>Why</a:t>
                      </a:r>
                      <a:endParaRPr lang="en-US" sz="15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E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Laravel 10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The dashboard: forms, validation, CRUD. My part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PostgreSQL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Shared with the Go API; transactions and row locks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Go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The apps' API: heavy playback traffic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rgbClr val="15211B"/>
                          </a:solidFill>
                        </a:rPr>
                        <a:t>Blade + Chart.js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rgbClr val="15211B"/>
                          </a:solidFill>
                        </a:rPr>
                        <a:t>An internal admin needs no SPA; one chart needs only Chart.js</a:t>
                      </a:r>
                      <a:endParaRPr lang="en-US" sz="1700" dirty="0"/>
                    </a:p>
                  </a:txBody>
                  <a:tcPr marL="164592" marR="164592" marT="182880" marB="182880" anchor="t">
                    <a:lnL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2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14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 renewal is one transaction</a:t>
            </a:r>
            <a:endParaRPr lang="en-US" sz="3200" dirty="0"/>
          </a:p>
        </p:txBody>
      </p:sp>
      <p:sp>
        <p:nvSpPr>
          <p:cNvPr id="5" name="card"/>
          <p:cNvSpPr/>
          <p:nvPr/>
        </p:nvSpPr>
        <p:spPr>
          <a:xfrm>
            <a:off x="548640" y="1600200"/>
            <a:ext cx="6949440" cy="3931920"/>
          </a:xfrm>
          <a:prstGeom prst="roundRect">
            <a:avLst>
              <a:gd name="adj" fmla="val 2791"/>
            </a:avLst>
          </a:prstGeom>
          <a:solidFill>
            <a:schemeClr val="tx2"/>
          </a:solidFill>
          <a:ln w="1270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2960" y="1920240"/>
            <a:ext cx="64922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DB::transaction(function () use (...) {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 = User::lockForUpdate()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-&gt;findOrFail($user-&gt;id);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$startsOn = $user-&gt;subscription_ends_on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?-&gt;gte($today)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? $user-&gt;subscription_ends_on-&gt;addDay()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: $today;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$endsOn = $startsOn-&gt;copy()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-&gt;addMonthsNoOverflow($months)-&gt;subDay();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$user-&gt;subscriptions()-&gt;create([...]);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$user-&gt;update(['subscription_ends_on' =&gt; $endsOn]);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6459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Rules in services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863840" y="210312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Thin controllers; plans, rentals, coupons and access are plain classes.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863840" y="310896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Enums, not numbers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35661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Sign-in, role and coupon type are typed.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7863840" y="457200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Tests on the rules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863840" y="50292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33 feature tests.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10058400" y="32004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400" b="1" dirty="0">
                <a:solidFill>
                  <a:schemeClr val="accent6"/>
                </a:solidFill>
                <a:latin typeface="+mj-lt" pitchFamily="34" charset="0"/>
                <a:ea typeface="+mj-lt" pitchFamily="34" charset="-122"/>
                <a:cs typeface="+mj-lt" pitchFamily="34" charset="-120"/>
              </a:rPr>
              <a:t>15</a:t>
            </a:r>
            <a:endParaRPr lang="en-US" sz="54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Demo: revenue, then a user's access check</a:t>
            </a:r>
            <a:endParaRPr lang="en-US" sz="3200" dirty="0"/>
          </a:p>
        </p:txBody>
      </p:sp>
      <p:pic>
        <p:nvPicPr>
          <p:cNvPr id="5" name="dashboard" descr="/workspaces/.xc-work/assets/goflix/e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5349240" cy="334327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pic>
        <p:nvPicPr>
          <p:cNvPr id="6" name="user page" descr="/workspaces/.xc-work/assets/goflix/en-us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600200"/>
            <a:ext cx="5349240" cy="3343275"/>
          </a:xfrm>
          <a:prstGeom prst="rect">
            <a:avLst/>
          </a:prstGeom>
          <a:effectLst>
            <a:outerShdw sx="100000" sy="100000" kx="0" ky="0" algn="bl" rotWithShape="0" blurRad="152400" dist="50800" dir="5400000">
              <a:srgbClr val="0D1D15">
                <a:alpha val="22000"/>
              </a:srgbClr>
            </a:outerShdw>
          </a:effectLst>
        </p:spPr>
      </p:pic>
      <p:sp>
        <p:nvSpPr>
          <p:cNvPr id="7" name="Text 2"/>
          <p:cNvSpPr txBox="1"/>
          <p:nvPr/>
        </p:nvSpPr>
        <p:spPr>
          <a:xfrm>
            <a:off x="548640" y="512635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Dashboard: plan and rental revenue per month</a:t>
            </a:r>
            <a:endParaRPr lang="en-US" sz="1300" dirty="0"/>
          </a:p>
        </p:txBody>
      </p:sp>
      <p:sp>
        <p:nvSpPr>
          <p:cNvPr id="8" name="Text 3"/>
          <p:cNvSpPr txBox="1"/>
          <p:nvPr/>
        </p:nvSpPr>
        <p:spPr>
          <a:xfrm>
            <a:off x="6263640" y="5126355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4"/>
                </a:solidFill>
              </a:rPr>
              <a:t>User page: status, payments and the access check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3550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73736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Demo and slides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Live demo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3108960" y="329184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Slides (PDF)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3108960" y="393192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https://goflix-dashboard-demo.vercel.app/goflix-walkthrough.pdf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5720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Slides (PPTX)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45720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u="sng" dirty="0">
                <a:solidFill>
                  <a:schemeClr val="bg1"/>
                </a:solidFill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https://goflix-dashboard-demo.vercel.app/goflix-walkthrough.pptx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4864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chemeClr val="accent5"/>
                </a:solidFill>
              </a:rPr>
              <a:t>The demo code is in a private GitHub repo; access is given during the interview. The dashboard speaks Bahasa Indonesia and English; demo data is restored every 3 hours.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oflix Screening Room">
  <a:themeElements>
    <a:clrScheme name="Goflix Screening Room">
      <a:dk1>
        <a:srgbClr val="15211B"/>
      </a:dk1>
      <a:lt1>
        <a:srgbClr val="FFFFFF"/>
      </a:lt1>
      <a:dk2>
        <a:srgbClr val="0D1D15"/>
      </a:dk2>
      <a:lt2>
        <a:srgbClr val="EEF3EF"/>
      </a:lt2>
      <a:accent1>
        <a:srgbClr val="1E9E57"/>
      </a:accent1>
      <a:accent2>
        <a:srgbClr val="C9971C"/>
      </a:accent2>
      <a:accent3>
        <a:srgbClr val="C8433A"/>
      </a:accent3>
      <a:accent4>
        <a:srgbClr val="5B6B62"/>
      </a:accent4>
      <a:accent5>
        <a:srgbClr val="A7B6AD"/>
      </a:accent5>
      <a:accent6>
        <a:srgbClr val="D6E2DA"/>
      </a:accent6>
      <a:hlink>
        <a:srgbClr val="1E9E57"/>
      </a:hlink>
      <a:folHlink>
        <a:srgbClr val="5B6B62"/>
      </a:folHlink>
    </a:clrScheme>
    <a:fontScheme name="Goflix Screening Room">
      <a:majorFont>
        <a:latin typeface="Bookman Old Styl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Goflix: the streaming platform's admin dashboard</dc:title>
  <dc:subject>PptxGenJS Presentation</dc:subject>
  <dc:creator>Enrico Saputra</dc:creator>
  <cp:lastModifiedBy>Enrico Saputra</cp:lastModifiedBy>
  <cp:revision>1</cp:revision>
  <dcterms:created xsi:type="dcterms:W3CDTF">2026-10-20T09:40:20Z</dcterms:created>
  <dcterms:modified xsi:type="dcterms:W3CDTF">2026-10-20T09:40:20Z</dcterms:modified>
</cp:coreProperties>
</file>