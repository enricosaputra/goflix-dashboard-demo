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Goflix has three parts. I built the Laravel dashboard. The demo rebuilds that dashboard with made-up data because the real code is under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clear the dashboard is the tool for the content, business and support teams, not the viewer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split: Go for high-traffic playback, Laravel for forms and CRUD used by the internal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 has about 40 tables, including games, music, radio, banners and home sections. The demo focuses on the tables that carry the dashboard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design point to discuss: why the old pattern hurts and how to fix it without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it in the demo: add a plan for a user who is still subscribed and watch the end date move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rule the Go API runs before playback. The dashboard has a Check button on the user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subscribers-cannot-rent rule stops people paying twice and cuts refund requests.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the reason and the risk ready for each. For example, the duplicate end date can drift, so only one service may change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also uses Blade, Tailwind and Chart.js, and runs on PostgreSQL like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app/Services/SubscriptionService.php in the demo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check a premium movie for a user without a plan, add a rental, then check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one or two you are most ready to discuss.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links and offer to open the demo or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walkthrough.pdf" TargetMode="External"/><Relationship Id="rId3" Type="http://schemas.openxmlformats.org/officeDocument/2006/relationships/hyperlink" Target="https://goflix-dashboard-demo.vercel.app/goflix-walkthrough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title"/>
          <p:cNvSpPr txBox="1"/>
          <p:nvPr/>
        </p:nvSpPr>
        <p:spPr>
          <a:xfrm>
            <a:off x="640080" y="12801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Goflix</a:t>
            </a:r>
            <a:endParaRPr lang="en-US" sz="5400" dirty="0"/>
          </a:p>
        </p:txBody>
      </p:sp>
      <p:sp>
        <p:nvSpPr>
          <p:cNvPr id="3" name="Cover subtitle"/>
          <p:cNvSpPr txBox="1"/>
          <p:nvPr/>
        </p:nvSpPr>
        <p:spPr>
          <a:xfrm>
            <a:off x="64008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streaming platform: the admin dashboard and its system design</a:t>
            </a:r>
            <a:endParaRPr lang="en-US" sz="2200" dirty="0"/>
          </a:p>
        </p:txBody>
      </p:sp>
      <p:sp>
        <p:nvSpPr>
          <p:cNvPr id="4" name="Cover author"/>
          <p:cNvSpPr txBox="1"/>
          <p:nvPr/>
        </p:nvSpPr>
        <p:spPr>
          <a:xfrm>
            <a:off x="64008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Enrico Saputra  |  Backend developer (Laravel dashboard)</a:t>
            </a:r>
            <a:endParaRPr lang="en-US" sz="1400" dirty="0"/>
          </a:p>
        </p:txBody>
      </p:sp>
      <p:sp>
        <p:nvSpPr>
          <p:cNvPr id="5" name="Cover note"/>
          <p:cNvSpPr txBox="1"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code and data are private. The demo rebuilds the Laravel dashboard on the real data model, with made-up data.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product does</a:t>
            </a:r>
            <a:endParaRPr lang="en-US" sz="3000" dirty="0"/>
          </a:p>
        </p:txBody>
      </p:sp>
      <p:sp>
        <p:nvSpPr>
          <p:cNvPr id="3" name="Product summary"/>
          <p:cNvSpPr txBox="1"/>
          <p:nvPr/>
        </p:nvSpPr>
        <p:spPr>
          <a:xfrm>
            <a:off x="457200" y="1097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Viewers watch movies and series on web and mobile. Some titles are free; the rest are premium through a monthly or yearly plan, or rented one movie at a time.</a:t>
            </a:r>
            <a:endParaRPr lang="en-US" sz="1600" dirty="0"/>
          </a:p>
        </p:txBody>
      </p:sp>
      <p:sp>
        <p:nvSpPr>
          <p:cNvPr id="4" name="Role heading"/>
          <p:cNvSpPr txBox="1"/>
          <p:nvPr/>
        </p:nvSpPr>
        <p:spPr>
          <a:xfrm>
            <a:off x="457200" y="2468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part: the admin dashboard</a:t>
            </a:r>
            <a:endParaRPr lang="en-US" sz="1900" dirty="0"/>
          </a:p>
        </p:txBody>
      </p:sp>
      <p:sp>
        <p:nvSpPr>
          <p:cNvPr id="5" name="Role list"/>
          <p:cNvSpPr txBox="1"/>
          <p:nvPr/>
        </p:nvSpPr>
        <p:spPr>
          <a:xfrm>
            <a:off x="457200" y="28803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Catalog: movies, series, episodes, genres, cast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plans, coupons and rentals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Users, payments and reporting</a:t>
            </a:r>
            <a:endParaRPr lang="en-US" sz="1500" dirty="0"/>
          </a:p>
        </p:txBody>
      </p:sp>
      <p:sp>
        <p:nvSpPr>
          <p:cNvPr id="6" name="Stat card 1"/>
          <p:cNvSpPr/>
          <p:nvPr/>
        </p:nvSpPr>
        <p:spPr>
          <a:xfrm>
            <a:off x="5669280" y="1097280"/>
            <a:ext cx="30175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 value 1"/>
          <p:cNvSpPr txBox="1"/>
          <p:nvPr/>
        </p:nvSpPr>
        <p:spPr>
          <a:xfrm>
            <a:off x="5852160" y="1097280"/>
            <a:ext cx="731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8" name="Stat label 1"/>
          <p:cNvSpPr txBox="1"/>
          <p:nvPr/>
        </p:nvSpPr>
        <p:spPr>
          <a:xfrm>
            <a:off x="6583680" y="109728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parts: Vue, Go, Laravel</a:t>
            </a:r>
            <a:endParaRPr lang="en-US" sz="1400" dirty="0"/>
          </a:p>
        </p:txBody>
      </p:sp>
      <p:sp>
        <p:nvSpPr>
          <p:cNvPr id="9" name="Stat card 2"/>
          <p:cNvSpPr/>
          <p:nvPr/>
        </p:nvSpPr>
        <p:spPr>
          <a:xfrm>
            <a:off x="5669280" y="2240280"/>
            <a:ext cx="30175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 value 2"/>
          <p:cNvSpPr txBox="1"/>
          <p:nvPr/>
        </p:nvSpPr>
        <p:spPr>
          <a:xfrm>
            <a:off x="5852160" y="2240280"/>
            <a:ext cx="731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11" name="Stat label 2"/>
          <p:cNvSpPr txBox="1"/>
          <p:nvPr/>
        </p:nvSpPr>
        <p:spPr>
          <a:xfrm>
            <a:off x="6583680" y="224028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PostgreSQL database</a:t>
            </a:r>
            <a:endParaRPr lang="en-US" sz="1400" dirty="0"/>
          </a:p>
        </p:txBody>
      </p:sp>
      <p:sp>
        <p:nvSpPr>
          <p:cNvPr id="12" name="Stat card 3"/>
          <p:cNvSpPr/>
          <p:nvPr/>
        </p:nvSpPr>
        <p:spPr>
          <a:xfrm>
            <a:off x="5669280" y="3383280"/>
            <a:ext cx="30175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at value 3"/>
          <p:cNvSpPr txBox="1"/>
          <p:nvPr/>
        </p:nvSpPr>
        <p:spPr>
          <a:xfrm>
            <a:off x="5852160" y="3383280"/>
            <a:ext cx="731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14" name="Stat label 3"/>
          <p:cNvSpPr txBox="1"/>
          <p:nvPr/>
        </p:nvSpPr>
        <p:spPr>
          <a:xfrm>
            <a:off x="6583680" y="338328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 to watch: free, plan, rental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overview</a:t>
            </a:r>
            <a:endParaRPr lang="en-US" sz="3000" dirty="0"/>
          </a:p>
        </p:txBody>
      </p:sp>
      <p:sp>
        <p:nvSpPr>
          <p:cNvPr id="3" name="Vue app"/>
          <p:cNvSpPr/>
          <p:nvPr/>
        </p:nvSpPr>
        <p:spPr>
          <a:xfrm>
            <a:off x="457200" y="1188720"/>
            <a:ext cx="17373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Vue.js web app</a:t>
            </a:r>
            <a:endParaRPr lang="en-US" sz="1300" dirty="0"/>
          </a:p>
        </p:txBody>
      </p:sp>
      <p:sp>
        <p:nvSpPr>
          <p:cNvPr id="4" name="Mobile app"/>
          <p:cNvSpPr/>
          <p:nvPr/>
        </p:nvSpPr>
        <p:spPr>
          <a:xfrm>
            <a:off x="457200" y="1920240"/>
            <a:ext cx="17373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300" dirty="0"/>
          </a:p>
        </p:txBody>
      </p:sp>
      <p:sp>
        <p:nvSpPr>
          <p:cNvPr id="5" name="Go API"/>
          <p:cNvSpPr/>
          <p:nvPr/>
        </p:nvSpPr>
        <p:spPr>
          <a:xfrm>
            <a:off x="2743200" y="1508760"/>
            <a:ext cx="155448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accent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API</a:t>
            </a:r>
            <a:endParaRPr lang="en-US" sz="1300" dirty="0"/>
          </a:p>
        </p:txBody>
      </p:sp>
      <p:sp>
        <p:nvSpPr>
          <p:cNvPr id="6" name="Database"/>
          <p:cNvSpPr/>
          <p:nvPr/>
        </p:nvSpPr>
        <p:spPr>
          <a:xfrm>
            <a:off x="4846320" y="1508760"/>
            <a:ext cx="155448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7" name="Dashboard"/>
          <p:cNvSpPr/>
          <p:nvPr/>
        </p:nvSpPr>
        <p:spPr>
          <a:xfrm>
            <a:off x="6949440" y="141732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dashboard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(my part)</a:t>
            </a:r>
            <a:endParaRPr lang="en-US" sz="1300" dirty="0"/>
          </a:p>
        </p:txBody>
      </p:sp>
      <p:sp>
        <p:nvSpPr>
          <p:cNvPr id="8" name="Gateway"/>
          <p:cNvSpPr/>
          <p:nvPr/>
        </p:nvSpPr>
        <p:spPr>
          <a:xfrm>
            <a:off x="2743200" y="2606040"/>
            <a:ext cx="15544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accent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gateway</a:t>
            </a:r>
            <a:endParaRPr lang="en-US" sz="1200" dirty="0"/>
          </a:p>
        </p:txBody>
      </p:sp>
      <p:sp>
        <p:nvSpPr>
          <p:cNvPr id="9" name="Vue to API"/>
          <p:cNvSpPr/>
          <p:nvPr/>
        </p:nvSpPr>
        <p:spPr>
          <a:xfrm>
            <a:off x="2194560" y="1463040"/>
            <a:ext cx="548640" cy="2743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Mobile to API"/>
          <p:cNvSpPr/>
          <p:nvPr/>
        </p:nvSpPr>
        <p:spPr>
          <a:xfrm flipV="1">
            <a:off x="2194560" y="1920240"/>
            <a:ext cx="548640" cy="2743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API to DB"/>
          <p:cNvSpPr/>
          <p:nvPr/>
        </p:nvSpPr>
        <p:spPr>
          <a:xfrm>
            <a:off x="4297680" y="1828800"/>
            <a:ext cx="54864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Dashboard to DB"/>
          <p:cNvSpPr/>
          <p:nvPr/>
        </p:nvSpPr>
        <p:spPr>
          <a:xfrm flipH="1">
            <a:off x="6400800" y="1828800"/>
            <a:ext cx="54864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3" name="API to gateway"/>
          <p:cNvSpPr/>
          <p:nvPr/>
        </p:nvSpPr>
        <p:spPr>
          <a:xfrm>
            <a:off x="3520440" y="214884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dash"/>
            <a:tailEnd type="triangle"/>
          </a:ln>
        </p:spPr>
      </p:sp>
      <p:sp>
        <p:nvSpPr>
          <p:cNvPr id="14" name="Arch point 1"/>
          <p:cNvSpPr/>
          <p:nvPr/>
        </p:nvSpPr>
        <p:spPr>
          <a:xfrm>
            <a:off x="457200" y="3337560"/>
            <a:ext cx="26212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 point title 1"/>
          <p:cNvSpPr txBox="1"/>
          <p:nvPr/>
        </p:nvSpPr>
        <p:spPr>
          <a:xfrm>
            <a:off x="594360" y="3447288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database, two writers</a:t>
            </a:r>
            <a:endParaRPr lang="en-US" sz="1500" dirty="0"/>
          </a:p>
        </p:txBody>
      </p:sp>
      <p:sp>
        <p:nvSpPr>
          <p:cNvPr id="16" name="Arch point text 1"/>
          <p:cNvSpPr txBox="1"/>
          <p:nvPr/>
        </p:nvSpPr>
        <p:spPr>
          <a:xfrm>
            <a:off x="594360" y="384048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 API writes activity and in-app payments; the dashboard writes the catalog, plans and corrections.</a:t>
            </a:r>
            <a:endParaRPr lang="en-US" sz="1200" dirty="0"/>
          </a:p>
        </p:txBody>
      </p:sp>
      <p:sp>
        <p:nvSpPr>
          <p:cNvPr id="17" name="Arch point 2"/>
          <p:cNvSpPr/>
          <p:nvPr/>
        </p:nvSpPr>
        <p:spPr>
          <a:xfrm>
            <a:off x="3261360" y="3337560"/>
            <a:ext cx="26212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 point title 2"/>
          <p:cNvSpPr txBox="1"/>
          <p:nvPr/>
        </p:nvSpPr>
        <p:spPr>
          <a:xfrm>
            <a:off x="3398520" y="3447288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decides access</a:t>
            </a:r>
            <a:endParaRPr lang="en-US" sz="1500" dirty="0"/>
          </a:p>
        </p:txBody>
      </p:sp>
      <p:sp>
        <p:nvSpPr>
          <p:cNvPr id="19" name="Arch point text 2"/>
          <p:cNvSpPr txBox="1"/>
          <p:nvPr/>
        </p:nvSpPr>
        <p:spPr>
          <a:xfrm>
            <a:off x="3398520" y="384048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never decides on its own; the API checks. The dashboard shows the same rule to support.</a:t>
            </a:r>
            <a:endParaRPr lang="en-US" sz="1200" dirty="0"/>
          </a:p>
        </p:txBody>
      </p:sp>
      <p:sp>
        <p:nvSpPr>
          <p:cNvPr id="20" name="Arch point 3"/>
          <p:cNvSpPr/>
          <p:nvPr/>
        </p:nvSpPr>
        <p:spPr>
          <a:xfrm>
            <a:off x="6065520" y="3337560"/>
            <a:ext cx="26212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 point title 3"/>
          <p:cNvSpPr txBox="1"/>
          <p:nvPr/>
        </p:nvSpPr>
        <p:spPr>
          <a:xfrm>
            <a:off x="6202680" y="3447288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dashboard has no API</a:t>
            </a:r>
            <a:endParaRPr lang="en-US" sz="1500" dirty="0"/>
          </a:p>
        </p:txBody>
      </p:sp>
      <p:sp>
        <p:nvSpPr>
          <p:cNvPr id="22" name="Arch point text 3"/>
          <p:cNvSpPr txBox="1"/>
          <p:nvPr/>
        </p:nvSpPr>
        <p:spPr>
          <a:xfrm>
            <a:off x="6202680" y="384048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apps need goes through the Go API. The dashboard is admin pages only.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</a:t>
            </a:r>
            <a:endParaRPr lang="en-US" sz="3000" dirty="0"/>
          </a:p>
        </p:txBody>
      </p:sp>
      <p:pic>
        <p:nvPicPr>
          <p:cNvPr id="3" name="Image 0" descr="Entity diagram of catalog, plans, payments and activ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2788" y="1005840"/>
            <a:ext cx="5478424" cy="2926080"/>
          </a:xfrm>
          <a:prstGeom prst="rect">
            <a:avLst/>
          </a:prstGeom>
        </p:spPr>
      </p:pic>
      <p:sp>
        <p:nvSpPr>
          <p:cNvPr id="4" name="Model note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(movies, series, episodes) on the sides; users in the middle with payments and viewing history. users.subscription_ends_on is the source of truth for a fast access check.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Relations: from text to pivot tables</a:t>
            </a:r>
            <a:endParaRPr lang="en-US" sz="3000" dirty="0"/>
          </a:p>
        </p:txBody>
      </p:sp>
      <p:sp>
        <p:nvSpPr>
          <p:cNvPr id="3" name="Before card"/>
          <p:cNvSpPr/>
          <p:nvPr/>
        </p:nvSpPr>
        <p:spPr>
          <a:xfrm>
            <a:off x="457200" y="1097280"/>
            <a:ext cx="39319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fter card"/>
          <p:cNvSpPr/>
          <p:nvPr/>
        </p:nvSpPr>
        <p:spPr>
          <a:xfrm>
            <a:off x="4754880" y="1097280"/>
            <a:ext cx="39319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efore title"/>
          <p:cNvSpPr txBox="1"/>
          <p:nvPr/>
        </p:nvSpPr>
        <p:spPr>
          <a:xfrm>
            <a:off x="64008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700" dirty="0"/>
          </a:p>
        </p:txBody>
      </p:sp>
      <p:sp>
        <p:nvSpPr>
          <p:cNvPr id="6" name="After title"/>
          <p:cNvSpPr txBox="1"/>
          <p:nvPr/>
        </p:nvSpPr>
        <p:spPr>
          <a:xfrm>
            <a:off x="493776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1700" dirty="0"/>
          </a:p>
        </p:txBody>
      </p:sp>
      <p:sp>
        <p:nvSpPr>
          <p:cNvPr id="7" name="Before code"/>
          <p:cNvSpPr txBox="1"/>
          <p:nvPr/>
        </p:nvSpPr>
        <p:spPr>
          <a:xfrm>
            <a:off x="640080" y="16459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200" dirty="0"/>
          </a:p>
        </p:txBody>
      </p:sp>
      <p:sp>
        <p:nvSpPr>
          <p:cNvPr id="8" name="After code"/>
          <p:cNvSpPr txBox="1"/>
          <p:nvPr/>
        </p:nvSpPr>
        <p:spPr>
          <a:xfrm>
            <a:off x="4937760" y="16459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200" dirty="0"/>
          </a:p>
        </p:txBody>
      </p:sp>
      <p:sp>
        <p:nvSpPr>
          <p:cNvPr id="9" name="Before note"/>
          <p:cNvSpPr txBox="1"/>
          <p:nvPr/>
        </p:nvSpPr>
        <p:spPr>
          <a:xfrm>
            <a:off x="64008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joined or indexed; deleted ids stay behind.</a:t>
            </a:r>
            <a:endParaRPr lang="en-US" sz="1200" dirty="0"/>
          </a:p>
        </p:txBody>
      </p:sp>
      <p:sp>
        <p:nvSpPr>
          <p:cNvPr id="10" name="After note"/>
          <p:cNvSpPr txBox="1"/>
          <p:nvPr/>
        </p:nvSpPr>
        <p:spPr>
          <a:xfrm>
            <a:off x="49377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keys, normal joins, and the genre report is one query.</a:t>
            </a:r>
            <a:endParaRPr lang="en-US" sz="1200" dirty="0"/>
          </a:p>
        </p:txBody>
      </p:sp>
      <p:sp>
        <p:nvSpPr>
          <p:cNvPr id="11" name="Before to after"/>
          <p:cNvSpPr/>
          <p:nvPr/>
        </p:nvSpPr>
        <p:spPr>
          <a:xfrm>
            <a:off x="4389120" y="2286000"/>
            <a:ext cx="36576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Migration note"/>
          <p:cNvSpPr txBox="1"/>
          <p:nvPr/>
        </p:nvSpPr>
        <p:spPr>
          <a:xfrm>
            <a:off x="457200" y="3749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migration: add the pivot, fill it from the old column, move readers one by one, then drop the old column.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Renewing without losing paid days</a:t>
            </a:r>
            <a:endParaRPr lang="en-US" sz="3000" dirty="0"/>
          </a:p>
        </p:txBody>
      </p:sp>
      <p:sp>
        <p:nvSpPr>
          <p:cNvPr id="3" name="Case 1"/>
          <p:cNvSpPr txBox="1"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until 20 Mar, buys 12 months on 10 Mar:</a:t>
            </a:r>
            <a:endParaRPr lang="en-US" sz="1400" dirty="0"/>
          </a:p>
        </p:txBody>
      </p:sp>
      <p:sp>
        <p:nvSpPr>
          <p:cNvPr id="4" name="Old period"/>
          <p:cNvSpPr/>
          <p:nvPr/>
        </p:nvSpPr>
        <p:spPr>
          <a:xfrm>
            <a:off x="457200" y="1508760"/>
            <a:ext cx="237744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old: until 20 Mar</a:t>
            </a:r>
            <a:endParaRPr lang="en-US" sz="1300" dirty="0"/>
          </a:p>
        </p:txBody>
      </p:sp>
      <p:sp>
        <p:nvSpPr>
          <p:cNvPr id="5" name="New period"/>
          <p:cNvSpPr/>
          <p:nvPr/>
        </p:nvSpPr>
        <p:spPr>
          <a:xfrm>
            <a:off x="2834640" y="1508760"/>
            <a:ext cx="585216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21 Mar to 20 Mar next year</a:t>
            </a:r>
            <a:endParaRPr lang="en-US" sz="1300" dirty="0"/>
          </a:p>
        </p:txBody>
      </p:sp>
      <p:sp>
        <p:nvSpPr>
          <p:cNvPr id="6" name="Case 2"/>
          <p:cNvSpPr txBox="1"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Ended 31 Jan, buys 1 month on 10 Mar:</a:t>
            </a:r>
            <a:endParaRPr lang="en-US" sz="1400" dirty="0"/>
          </a:p>
        </p:txBody>
      </p:sp>
      <p:sp>
        <p:nvSpPr>
          <p:cNvPr id="7" name="Gap"/>
          <p:cNvSpPr/>
          <p:nvPr/>
        </p:nvSpPr>
        <p:spPr>
          <a:xfrm>
            <a:off x="457200" y="2697480"/>
            <a:ext cx="237744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lapsed</a:t>
            </a:r>
            <a:endParaRPr lang="en-US" sz="1300" dirty="0"/>
          </a:p>
        </p:txBody>
      </p:sp>
      <p:sp>
        <p:nvSpPr>
          <p:cNvPr id="8" name="Restart"/>
          <p:cNvSpPr/>
          <p:nvPr/>
        </p:nvSpPr>
        <p:spPr>
          <a:xfrm>
            <a:off x="2834640" y="2697480"/>
            <a:ext cx="237744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Mar to 9 Apr</a:t>
            </a:r>
            <a:endParaRPr lang="en-US" sz="1300" dirty="0"/>
          </a:p>
        </p:txBody>
      </p:sp>
      <p:sp>
        <p:nvSpPr>
          <p:cNvPr id="9" name="Sub rule 1"/>
          <p:cNvSpPr/>
          <p:nvPr/>
        </p:nvSpPr>
        <p:spPr>
          <a:xfrm>
            <a:off x="457200" y="3474720"/>
            <a:ext cx="26212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ub rule title 1"/>
          <p:cNvSpPr txBox="1"/>
          <p:nvPr/>
        </p:nvSpPr>
        <p:spPr>
          <a:xfrm>
            <a:off x="594360" y="3584448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</a:t>
            </a:r>
            <a:endParaRPr lang="en-US" sz="1500" dirty="0"/>
          </a:p>
        </p:txBody>
      </p:sp>
      <p:sp>
        <p:nvSpPr>
          <p:cNvPr id="11" name="Sub rule text 1"/>
          <p:cNvSpPr txBox="1"/>
          <p:nvPr/>
        </p:nvSpPr>
        <p:spPr>
          <a:xfrm>
            <a:off x="594360" y="3977640"/>
            <a:ext cx="234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SubscriptionService moves users.subscription_ends_on.</a:t>
            </a:r>
            <a:endParaRPr lang="en-US" sz="1200" dirty="0"/>
          </a:p>
        </p:txBody>
      </p:sp>
      <p:sp>
        <p:nvSpPr>
          <p:cNvPr id="12" name="Sub rule 2"/>
          <p:cNvSpPr/>
          <p:nvPr/>
        </p:nvSpPr>
        <p:spPr>
          <a:xfrm>
            <a:off x="3261360" y="3474720"/>
            <a:ext cx="26212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ub rule title 2"/>
          <p:cNvSpPr txBox="1"/>
          <p:nvPr/>
        </p:nvSpPr>
        <p:spPr>
          <a:xfrm>
            <a:off x="3398520" y="3584448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transaction</a:t>
            </a:r>
            <a:endParaRPr lang="en-US" sz="1500" dirty="0"/>
          </a:p>
        </p:txBody>
      </p:sp>
      <p:sp>
        <p:nvSpPr>
          <p:cNvPr id="14" name="Sub rule text 2"/>
          <p:cNvSpPr txBox="1"/>
          <p:nvPr/>
        </p:nvSpPr>
        <p:spPr>
          <a:xfrm>
            <a:off x="3398520" y="3977640"/>
            <a:ext cx="234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row and the end date are saved together, or neither is.</a:t>
            </a:r>
            <a:endParaRPr lang="en-US" sz="1200" dirty="0"/>
          </a:p>
        </p:txBody>
      </p:sp>
      <p:sp>
        <p:nvSpPr>
          <p:cNvPr id="15" name="Sub rule 3"/>
          <p:cNvSpPr/>
          <p:nvPr/>
        </p:nvSpPr>
        <p:spPr>
          <a:xfrm>
            <a:off x="6065520" y="3474720"/>
            <a:ext cx="26212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ub rule title 3"/>
          <p:cNvSpPr txBox="1"/>
          <p:nvPr/>
        </p:nvSpPr>
        <p:spPr>
          <a:xfrm>
            <a:off x="6202680" y="3584448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 lock</a:t>
            </a:r>
            <a:endParaRPr lang="en-US" sz="1500" dirty="0"/>
          </a:p>
        </p:txBody>
      </p:sp>
      <p:sp>
        <p:nvSpPr>
          <p:cNvPr id="17" name="Sub rule text 3"/>
          <p:cNvSpPr txBox="1"/>
          <p:nvPr/>
        </p:nvSpPr>
        <p:spPr>
          <a:xfrm>
            <a:off x="6202680" y="3977640"/>
            <a:ext cx="234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lockForUpdate makes a second payment wait and count from the new date.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may watch what</a:t>
            </a:r>
            <a:endParaRPr lang="en-US" sz="3000" dirty="0"/>
          </a:p>
        </p:txBody>
      </p:sp>
      <p:sp>
        <p:nvSpPr>
          <p:cNvPr id="3" name="Check 1"/>
          <p:cNvSpPr/>
          <p:nvPr/>
        </p:nvSpPr>
        <p:spPr>
          <a:xfrm>
            <a:off x="457200" y="1234440"/>
            <a:ext cx="16916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accent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and title active?</a:t>
            </a:r>
            <a:endParaRPr lang="en-US" sz="1300" dirty="0"/>
          </a:p>
        </p:txBody>
      </p:sp>
      <p:sp>
        <p:nvSpPr>
          <p:cNvPr id="4" name="Outcome 1"/>
          <p:cNvSpPr txBox="1"/>
          <p:nvPr/>
        </p:nvSpPr>
        <p:spPr>
          <a:xfrm>
            <a:off x="457200" y="2103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 refused</a:t>
            </a:r>
            <a:endParaRPr lang="en-US" sz="1200" dirty="0"/>
          </a:p>
        </p:txBody>
      </p:sp>
      <p:sp>
        <p:nvSpPr>
          <p:cNvPr id="5" name="Next 1"/>
          <p:cNvSpPr/>
          <p:nvPr/>
        </p:nvSpPr>
        <p:spPr>
          <a:xfrm>
            <a:off x="2148840" y="162763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6" name="Check 2"/>
          <p:cNvSpPr/>
          <p:nvPr/>
        </p:nvSpPr>
        <p:spPr>
          <a:xfrm>
            <a:off x="2606040" y="1234440"/>
            <a:ext cx="16916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accent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Premium?</a:t>
            </a:r>
            <a:endParaRPr lang="en-US" sz="1300" dirty="0"/>
          </a:p>
        </p:txBody>
      </p:sp>
      <p:sp>
        <p:nvSpPr>
          <p:cNvPr id="7" name="Outcome 2"/>
          <p:cNvSpPr txBox="1"/>
          <p:nvPr/>
        </p:nvSpPr>
        <p:spPr>
          <a:xfrm>
            <a:off x="2606040" y="2103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 free</a:t>
            </a:r>
            <a:endParaRPr lang="en-US" sz="1200" dirty="0"/>
          </a:p>
        </p:txBody>
      </p:sp>
      <p:sp>
        <p:nvSpPr>
          <p:cNvPr id="8" name="Next 2"/>
          <p:cNvSpPr/>
          <p:nvPr/>
        </p:nvSpPr>
        <p:spPr>
          <a:xfrm>
            <a:off x="4297680" y="162763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Check 3"/>
          <p:cNvSpPr/>
          <p:nvPr/>
        </p:nvSpPr>
        <p:spPr>
          <a:xfrm>
            <a:off x="4754880" y="1234440"/>
            <a:ext cx="16916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accent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plan?</a:t>
            </a:r>
            <a:endParaRPr lang="en-US" sz="1300" dirty="0"/>
          </a:p>
        </p:txBody>
      </p:sp>
      <p:sp>
        <p:nvSpPr>
          <p:cNvPr id="10" name="Outcome 3"/>
          <p:cNvSpPr txBox="1"/>
          <p:nvPr/>
        </p:nvSpPr>
        <p:spPr>
          <a:xfrm>
            <a:off x="4754880" y="2103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allowed</a:t>
            </a:r>
            <a:endParaRPr lang="en-US" sz="1200" dirty="0"/>
          </a:p>
        </p:txBody>
      </p:sp>
      <p:sp>
        <p:nvSpPr>
          <p:cNvPr id="11" name="Next 3"/>
          <p:cNvSpPr/>
          <p:nvPr/>
        </p:nvSpPr>
        <p:spPr>
          <a:xfrm>
            <a:off x="6446520" y="162763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Check 4"/>
          <p:cNvSpPr/>
          <p:nvPr/>
        </p:nvSpPr>
        <p:spPr>
          <a:xfrm>
            <a:off x="6903720" y="1234440"/>
            <a:ext cx="16916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accent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rented?</a:t>
            </a:r>
            <a:endParaRPr lang="en-US" sz="1300" dirty="0"/>
          </a:p>
        </p:txBody>
      </p:sp>
      <p:sp>
        <p:nvSpPr>
          <p:cNvPr id="13" name="Outcome 4"/>
          <p:cNvSpPr txBox="1"/>
          <p:nvPr/>
        </p:nvSpPr>
        <p:spPr>
          <a:xfrm>
            <a:off x="6903720" y="2103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allowed until it expires</a:t>
            </a:r>
            <a:endParaRPr lang="en-US" sz="1200" dirty="0"/>
          </a:p>
        </p:txBody>
      </p:sp>
      <p:sp>
        <p:nvSpPr>
          <p:cNvPr id="14" name="Refused"/>
          <p:cNvSpPr/>
          <p:nvPr/>
        </p:nvSpPr>
        <p:spPr>
          <a:xfrm>
            <a:off x="457200" y="283464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Refused: needs a plan, or a rental if the movie has a rent price</a:t>
            </a:r>
            <a:endParaRPr lang="en-US" sz="1300" dirty="0"/>
          </a:p>
        </p:txBody>
      </p:sp>
      <p:sp>
        <p:nvSpPr>
          <p:cNvPr id="15" name="Access note"/>
          <p:cNvSpPr txBox="1"/>
          <p:nvPr/>
        </p:nvSpPr>
        <p:spPr>
          <a:xfrm>
            <a:off x="457200" y="3611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episode is premium on its own or through its series. One AccessService is used everywhere, and the dashboard shows it per user so support can answer complaints.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Rentals and coupons</a:t>
            </a:r>
            <a:endParaRPr lang="en-US" sz="3000" dirty="0"/>
          </a:p>
        </p:txBody>
      </p:sp>
      <p:sp>
        <p:nvSpPr>
          <p:cNvPr id="3" name="Rental card"/>
          <p:cNvSpPr/>
          <p:nvPr/>
        </p:nvSpPr>
        <p:spPr>
          <a:xfrm>
            <a:off x="457200" y="109728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upon card"/>
          <p:cNvSpPr/>
          <p:nvPr/>
        </p:nvSpPr>
        <p:spPr>
          <a:xfrm>
            <a:off x="4663440" y="109728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Rental title"/>
          <p:cNvSpPr txBox="1"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Renting one movie</a:t>
            </a:r>
            <a:endParaRPr lang="en-US" sz="1700" dirty="0"/>
          </a:p>
        </p:txBody>
      </p:sp>
      <p:sp>
        <p:nvSpPr>
          <p:cNvPr id="6" name="Coupon title"/>
          <p:cNvSpPr txBox="1"/>
          <p:nvPr/>
        </p:nvSpPr>
        <p:spPr>
          <a:xfrm>
            <a:off x="48463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Coupons</a:t>
            </a:r>
            <a:endParaRPr lang="en-US" sz="1700" dirty="0"/>
          </a:p>
        </p:txBody>
      </p:sp>
      <p:sp>
        <p:nvSpPr>
          <p:cNvPr id="7" name="Rental rules"/>
          <p:cNvSpPr txBox="1"/>
          <p:nvPr/>
        </p:nvSpPr>
        <p:spPr>
          <a:xfrm>
            <a:off x="640080" y="173736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premium movies with a rent price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Lasts rent_days days from payment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subscribers cannot rent: it is already included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movie cannot be rented twice at once</a:t>
            </a:r>
            <a:endParaRPr lang="en-US" sz="1400" dirty="0"/>
          </a:p>
        </p:txBody>
      </p:sp>
      <p:sp>
        <p:nvSpPr>
          <p:cNvPr id="8" name="Coupon rules"/>
          <p:cNvSpPr txBox="1"/>
          <p:nvPr/>
        </p:nvSpPr>
        <p:spPr>
          <a:xfrm>
            <a:off x="4846320" y="173736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amount or percentage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valid between its start and end dates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takes a price below zero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single-use coupon works once per user, across plans and rentals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worth talking about</a:t>
            </a:r>
            <a:endParaRPr lang="en-US" sz="3000" dirty="0"/>
          </a:p>
        </p:txBody>
      </p:sp>
      <p:sp>
        <p:nvSpPr>
          <p:cNvPr id="3" name="Decision 1"/>
          <p:cNvSpPr/>
          <p:nvPr/>
        </p:nvSpPr>
        <p:spPr>
          <a:xfrm>
            <a:off x="457200" y="114300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cision title 1"/>
          <p:cNvSpPr txBox="1"/>
          <p:nvPr/>
        </p:nvSpPr>
        <p:spPr>
          <a:xfrm>
            <a:off x="594360" y="12527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date on users</a:t>
            </a:r>
            <a:endParaRPr lang="en-US" sz="1500" dirty="0"/>
          </a:p>
        </p:txBody>
      </p:sp>
      <p:sp>
        <p:nvSpPr>
          <p:cNvPr id="5" name="Decision text 1"/>
          <p:cNvSpPr txBox="1"/>
          <p:nvPr/>
        </p:nvSpPr>
        <p:spPr>
          <a:xfrm>
            <a:off x="5943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duplication: the API checks access on every play, so one indexed column beats finding the latest subscription.</a:t>
            </a:r>
            <a:endParaRPr lang="en-US" sz="1200" dirty="0"/>
          </a:p>
        </p:txBody>
      </p:sp>
      <p:sp>
        <p:nvSpPr>
          <p:cNvPr id="6" name="Decision 2"/>
          <p:cNvSpPr/>
          <p:nvPr/>
        </p:nvSpPr>
        <p:spPr>
          <a:xfrm>
            <a:off x="4663440" y="114300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ecision title 2"/>
          <p:cNvSpPr txBox="1"/>
          <p:nvPr/>
        </p:nvSpPr>
        <p:spPr>
          <a:xfrm>
            <a:off x="4800600" y="12527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Payments cannot be edited</a:t>
            </a:r>
            <a:endParaRPr lang="en-US" sz="1500" dirty="0"/>
          </a:p>
        </p:txBody>
      </p:sp>
      <p:sp>
        <p:nvSpPr>
          <p:cNvPr id="8" name="Decision text 2"/>
          <p:cNvSpPr txBox="1"/>
          <p:nvPr/>
        </p:nvSpPr>
        <p:spPr>
          <a:xfrm>
            <a:off x="480060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 and rentals are financial records. A correction is a new entry.</a:t>
            </a:r>
            <a:endParaRPr lang="en-US" sz="1200" dirty="0"/>
          </a:p>
        </p:txBody>
      </p:sp>
      <p:sp>
        <p:nvSpPr>
          <p:cNvPr id="9" name="Decision 3"/>
          <p:cNvSpPr/>
          <p:nvPr/>
        </p:nvSpPr>
        <p:spPr>
          <a:xfrm>
            <a:off x="45720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ecision title 3"/>
          <p:cNvSpPr txBox="1"/>
          <p:nvPr/>
        </p:nvSpPr>
        <p:spPr>
          <a:xfrm>
            <a:off x="594360" y="289864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Deactivate, not delete</a:t>
            </a:r>
            <a:endParaRPr lang="en-US" sz="1500" dirty="0"/>
          </a:p>
        </p:txBody>
      </p:sp>
      <p:sp>
        <p:nvSpPr>
          <p:cNvPr id="11" name="Decision text 3"/>
          <p:cNvSpPr txBox="1"/>
          <p:nvPr/>
        </p:nvSpPr>
        <p:spPr>
          <a:xfrm>
            <a:off x="594360" y="32918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genre, plan, coupon or user in use can only be deactivated, so history stays intact.</a:t>
            </a:r>
            <a:endParaRPr lang="en-US" sz="1200" dirty="0"/>
          </a:p>
        </p:txBody>
      </p:sp>
      <p:sp>
        <p:nvSpPr>
          <p:cNvPr id="12" name="Decision 4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Decision title 4"/>
          <p:cNvSpPr txBox="1"/>
          <p:nvPr/>
        </p:nvSpPr>
        <p:spPr>
          <a:xfrm>
            <a:off x="4800600" y="289864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Episodes updated in place</a:t>
            </a:r>
            <a:endParaRPr lang="en-US" sz="1500" dirty="0"/>
          </a:p>
        </p:txBody>
      </p:sp>
      <p:sp>
        <p:nvSpPr>
          <p:cNvPr id="14" name="Decision text 4"/>
          <p:cNvSpPr txBox="1"/>
          <p:nvPr/>
        </p:nvSpPr>
        <p:spPr>
          <a:xfrm>
            <a:off x="4800600" y="32918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the episode list keeps the same rows, so viewing history stays attached.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and why</a:t>
            </a:r>
            <a:endParaRPr lang="en-US" sz="3000" dirty="0"/>
          </a:p>
        </p:txBody>
      </p:sp>
      <p:sp>
        <p:nvSpPr>
          <p:cNvPr id="3" name="Stack marker 1"/>
          <p:cNvSpPr/>
          <p:nvPr/>
        </p:nvSpPr>
        <p:spPr>
          <a:xfrm>
            <a:off x="457200" y="1252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tack number 1"/>
          <p:cNvSpPr txBox="1"/>
          <p:nvPr/>
        </p:nvSpPr>
        <p:spPr>
          <a:xfrm>
            <a:off x="457200" y="1252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ack name 1"/>
          <p:cNvSpPr txBox="1"/>
          <p:nvPr/>
        </p:nvSpPr>
        <p:spPr>
          <a:xfrm>
            <a:off x="1143000" y="1143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Laravel 10</a:t>
            </a:r>
            <a:endParaRPr lang="en-US" sz="1800" dirty="0"/>
          </a:p>
        </p:txBody>
      </p:sp>
      <p:sp>
        <p:nvSpPr>
          <p:cNvPr id="6" name="Stack reason 1"/>
          <p:cNvSpPr txBox="1"/>
          <p:nvPr/>
        </p:nvSpPr>
        <p:spPr>
          <a:xfrm>
            <a:off x="3657600" y="11430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dashboard: forms, validation and CRUD are very productive. The part I built.</a:t>
            </a:r>
            <a:endParaRPr lang="en-US" sz="1400" dirty="0"/>
          </a:p>
        </p:txBody>
      </p:sp>
      <p:sp>
        <p:nvSpPr>
          <p:cNvPr id="7" name="Stack marker 2"/>
          <p:cNvSpPr/>
          <p:nvPr/>
        </p:nvSpPr>
        <p:spPr>
          <a:xfrm>
            <a:off x="457200" y="2121408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Stack number 2"/>
          <p:cNvSpPr txBox="1"/>
          <p:nvPr/>
        </p:nvSpPr>
        <p:spPr>
          <a:xfrm>
            <a:off x="45720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Stack name 2"/>
          <p:cNvSpPr txBox="1"/>
          <p:nvPr/>
        </p:nvSpPr>
        <p:spPr>
          <a:xfrm>
            <a:off x="1143000" y="20116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800" dirty="0"/>
          </a:p>
        </p:txBody>
      </p:sp>
      <p:sp>
        <p:nvSpPr>
          <p:cNvPr id="10" name="Stack reason 2"/>
          <p:cNvSpPr txBox="1"/>
          <p:nvPr/>
        </p:nvSpPr>
        <p:spPr>
          <a:xfrm>
            <a:off x="3657600" y="201168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 for the API and the dashboard, with transactions and row locks.</a:t>
            </a:r>
            <a:endParaRPr lang="en-US" sz="1400" dirty="0"/>
          </a:p>
        </p:txBody>
      </p:sp>
      <p:sp>
        <p:nvSpPr>
          <p:cNvPr id="11" name="Stack marker 3"/>
          <p:cNvSpPr/>
          <p:nvPr/>
        </p:nvSpPr>
        <p:spPr>
          <a:xfrm>
            <a:off x="457200" y="2990088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Stack number 3"/>
          <p:cNvSpPr txBox="1"/>
          <p:nvPr/>
        </p:nvSpPr>
        <p:spPr>
          <a:xfrm>
            <a:off x="457200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tack name 3"/>
          <p:cNvSpPr txBox="1"/>
          <p:nvPr/>
        </p:nvSpPr>
        <p:spPr>
          <a:xfrm>
            <a:off x="1143000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</a:t>
            </a:r>
            <a:endParaRPr lang="en-US" sz="1800" dirty="0"/>
          </a:p>
        </p:txBody>
      </p:sp>
      <p:sp>
        <p:nvSpPr>
          <p:cNvPr id="14" name="Stack reason 3"/>
          <p:cNvSpPr txBox="1"/>
          <p:nvPr/>
        </p:nvSpPr>
        <p:spPr>
          <a:xfrm>
            <a:off x="3657600" y="28803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for the apps: high playback traffic and low latency.</a:t>
            </a:r>
            <a:endParaRPr lang="en-US" sz="1400" dirty="0"/>
          </a:p>
        </p:txBody>
      </p:sp>
      <p:sp>
        <p:nvSpPr>
          <p:cNvPr id="15" name="Stack marker 4"/>
          <p:cNvSpPr/>
          <p:nvPr/>
        </p:nvSpPr>
        <p:spPr>
          <a:xfrm>
            <a:off x="457200" y="3858768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Stack number 4"/>
          <p:cNvSpPr txBox="1"/>
          <p:nvPr/>
        </p:nvSpPr>
        <p:spPr>
          <a:xfrm>
            <a:off x="457200" y="3858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Stack name 4"/>
          <p:cNvSpPr txBox="1"/>
          <p:nvPr/>
        </p:nvSpPr>
        <p:spPr>
          <a:xfrm>
            <a:off x="1143000" y="37490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Vue.js</a:t>
            </a:r>
            <a:endParaRPr lang="en-US" sz="1800" dirty="0"/>
          </a:p>
        </p:txBody>
      </p:sp>
      <p:sp>
        <p:nvSpPr>
          <p:cNvPr id="18" name="Stack reason 4"/>
          <p:cNvSpPr txBox="1"/>
          <p:nvPr/>
        </p:nvSpPr>
        <p:spPr>
          <a:xfrm>
            <a:off x="3657600" y="37490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viewer web app.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code easy to read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457200" y="1097280"/>
            <a:ext cx="5120640" cy="3291840"/>
          </a:xfrm>
          <a:prstGeom prst="roundRect">
            <a:avLst>
              <a:gd name="adj" fmla="val 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 sample"/>
          <p:cNvSpPr txBox="1"/>
          <p:nvPr/>
        </p:nvSpPr>
        <p:spPr>
          <a:xfrm>
            <a:off x="640080" y="123444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50" dirty="0"/>
          </a:p>
        </p:txBody>
      </p:sp>
      <p:sp>
        <p:nvSpPr>
          <p:cNvPr id="5" name="Clean code notes"/>
          <p:cNvSpPr txBox="1"/>
          <p:nvPr/>
        </p:nvSpPr>
        <p:spPr>
          <a:xfrm>
            <a:off x="5806440" y="1097280"/>
            <a:ext cx="2880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in services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controllers; plans, rentals, coupons and access are plain classes.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Enums, not numbers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Sign-in, role and coupon type are typed.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pattern for master data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Genres, languages and seasons share one base controller.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on the rules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feature tests.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demo app</a:t>
            </a:r>
            <a:endParaRPr lang="en-US" sz="3000" dirty="0"/>
          </a:p>
        </p:txBody>
      </p:sp>
      <p:pic>
        <p:nvPicPr>
          <p:cNvPr id="3" name="Image 0" descr="Goflix dashboard with revenue per mon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03020"/>
            <a:ext cx="4023360" cy="2514600"/>
          </a:xfrm>
          <a:prstGeom prst="rect">
            <a:avLst/>
          </a:prstGeom>
        </p:spPr>
      </p:pic>
      <p:pic>
        <p:nvPicPr>
          <p:cNvPr id="4" name="Image 1" descr="User page with the access 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03020"/>
            <a:ext cx="4023360" cy="2514600"/>
          </a:xfrm>
          <a:prstGeom prst="rect">
            <a:avLst/>
          </a:prstGeom>
        </p:spPr>
      </p:pic>
      <p:sp>
        <p:nvSpPr>
          <p:cNvPr id="5" name="Dashboard caption"/>
          <p:cNvSpPr txBox="1"/>
          <p:nvPr/>
        </p:nvSpPr>
        <p:spPr>
          <a:xfrm>
            <a:off x="45720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plan and rental revenue per month</a:t>
            </a:r>
            <a:endParaRPr lang="en-US" sz="1200" dirty="0"/>
          </a:p>
        </p:txBody>
      </p:sp>
      <p:sp>
        <p:nvSpPr>
          <p:cNvPr id="6" name="User caption"/>
          <p:cNvSpPr txBox="1"/>
          <p:nvPr/>
        </p:nvSpPr>
        <p:spPr>
          <a:xfrm>
            <a:off x="466344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page: status, payments and access check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would improve</a:t>
            </a:r>
            <a:endParaRPr lang="en-US" sz="3000" dirty="0"/>
          </a:p>
        </p:txBody>
      </p:sp>
      <p:sp>
        <p:nvSpPr>
          <p:cNvPr id="3" name="Improve title 1"/>
          <p:cNvSpPr txBox="1"/>
          <p:nvPr/>
        </p:nvSpPr>
        <p:spPr>
          <a:xfrm>
            <a:off x="457200" y="1143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to pivot tables</a:t>
            </a:r>
            <a:endParaRPr lang="en-US" sz="1700" dirty="0"/>
          </a:p>
        </p:txBody>
      </p:sp>
      <p:sp>
        <p:nvSpPr>
          <p:cNvPr id="4" name="Improve text 1"/>
          <p:cNvSpPr txBox="1"/>
          <p:nvPr/>
        </p:nvSpPr>
        <p:spPr>
          <a:xfrm>
            <a:off x="3657600" y="11430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comma-separated ids step by step, with no downtime.</a:t>
            </a:r>
            <a:endParaRPr lang="en-US" sz="1400" dirty="0"/>
          </a:p>
        </p:txBody>
      </p:sp>
      <p:sp>
        <p:nvSpPr>
          <p:cNvPr id="5" name="Improve title 2"/>
          <p:cNvSpPr txBox="1"/>
          <p:nvPr/>
        </p:nvSpPr>
        <p:spPr>
          <a:xfrm>
            <a:off x="457200" y="2011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shared rule contract</a:t>
            </a:r>
            <a:endParaRPr lang="en-US" sz="1700" dirty="0"/>
          </a:p>
        </p:txBody>
      </p:sp>
      <p:sp>
        <p:nvSpPr>
          <p:cNvPr id="6" name="Improve text 2"/>
          <p:cNvSpPr txBox="1"/>
          <p:nvPr/>
        </p:nvSpPr>
        <p:spPr>
          <a:xfrm>
            <a:off x="3657600" y="2011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access rule lives in Go and Laravel. One shared set of test cases keeps them in step.</a:t>
            </a:r>
            <a:endParaRPr lang="en-US" sz="1400" dirty="0"/>
          </a:p>
        </p:txBody>
      </p:sp>
      <p:sp>
        <p:nvSpPr>
          <p:cNvPr id="7" name="Improve title 3"/>
          <p:cNvSpPr txBox="1"/>
          <p:nvPr/>
        </p:nvSpPr>
        <p:spPr>
          <a:xfrm>
            <a:off x="45720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viewing history</a:t>
            </a:r>
            <a:endParaRPr lang="en-US" sz="1700" dirty="0"/>
          </a:p>
        </p:txBody>
      </p:sp>
      <p:sp>
        <p:nvSpPr>
          <p:cNvPr id="8" name="Improve text 3"/>
          <p:cNvSpPr txBox="1"/>
          <p:nvPr/>
        </p:nvSpPr>
        <p:spPr>
          <a:xfrm>
            <a:off x="3657600" y="28803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watch_history by month and move reports to a daily summary table.</a:t>
            </a:r>
            <a:endParaRPr lang="en-US" sz="1400" dirty="0"/>
          </a:p>
        </p:txBody>
      </p:sp>
      <p:sp>
        <p:nvSpPr>
          <p:cNvPr id="9" name="Improve title 4"/>
          <p:cNvSpPr txBox="1"/>
          <p:nvPr/>
        </p:nvSpPr>
        <p:spPr>
          <a:xfrm>
            <a:off x="457200" y="3749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and indexes</a:t>
            </a:r>
            <a:endParaRPr lang="en-US" sz="1700" dirty="0"/>
          </a:p>
        </p:txBody>
      </p:sp>
      <p:sp>
        <p:nvSpPr>
          <p:cNvPr id="10" name="Improve text 4"/>
          <p:cNvSpPr txBox="1"/>
          <p:nvPr/>
        </p:nvSpPr>
        <p:spPr>
          <a:xfrm>
            <a:off x="3657600" y="37490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keys and indexes on the columns used by access checks and reports.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ks title"/>
          <p:cNvSpPr txBox="1"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4000" dirty="0"/>
          </a:p>
        </p:txBody>
      </p:sp>
      <p:sp>
        <p:nvSpPr>
          <p:cNvPr id="3" name="Link label 1"/>
          <p:cNvSpPr txBox="1"/>
          <p:nvPr/>
        </p:nvSpPr>
        <p:spPr>
          <a:xfrm>
            <a:off x="64008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600" dirty="0"/>
          </a:p>
        </p:txBody>
      </p:sp>
      <p:sp>
        <p:nvSpPr>
          <p:cNvPr id="4" name="Link value 1"/>
          <p:cNvSpPr txBox="1"/>
          <p:nvPr/>
        </p:nvSpPr>
        <p:spPr>
          <a:xfrm>
            <a:off x="2468880" y="15544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300" dirty="0"/>
          </a:p>
        </p:txBody>
      </p:sp>
      <p:sp>
        <p:nvSpPr>
          <p:cNvPr id="5" name="Link label 2"/>
          <p:cNvSpPr txBox="1"/>
          <p:nvPr/>
        </p:nvSpPr>
        <p:spPr>
          <a:xfrm>
            <a:off x="640080" y="21214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(PDF)</a:t>
            </a:r>
            <a:endParaRPr lang="en-US" sz="1600" dirty="0"/>
          </a:p>
        </p:txBody>
      </p:sp>
      <p:sp>
        <p:nvSpPr>
          <p:cNvPr id="6" name="Link value 2"/>
          <p:cNvSpPr txBox="1"/>
          <p:nvPr/>
        </p:nvSpPr>
        <p:spPr>
          <a:xfrm>
            <a:off x="2468880" y="212140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https://goflix-dashboard-demo.vercel.app/goflix-walkthrough.pdf</a:t>
            </a:r>
            <a:endParaRPr lang="en-US" sz="1300" dirty="0"/>
          </a:p>
        </p:txBody>
      </p:sp>
      <p:sp>
        <p:nvSpPr>
          <p:cNvPr id="7" name="Link label 3"/>
          <p:cNvSpPr txBox="1"/>
          <p:nvPr/>
        </p:nvSpPr>
        <p:spPr>
          <a:xfrm>
            <a:off x="640080" y="26883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(PPTX)</a:t>
            </a:r>
            <a:endParaRPr lang="en-US" sz="1600" dirty="0"/>
          </a:p>
        </p:txBody>
      </p:sp>
      <p:sp>
        <p:nvSpPr>
          <p:cNvPr id="8" name="Link value 3"/>
          <p:cNvSpPr txBox="1"/>
          <p:nvPr/>
        </p:nvSpPr>
        <p:spPr>
          <a:xfrm>
            <a:off x="2468880" y="2688336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https://goflix-dashboard-demo.vercel.app/goflix-walkthrough.pptx</a:t>
            </a:r>
            <a:endParaRPr lang="en-US" sz="1300" dirty="0"/>
          </a:p>
        </p:txBody>
      </p:sp>
      <p:sp>
        <p:nvSpPr>
          <p:cNvPr id="9" name="Link label 4"/>
          <p:cNvSpPr txBox="1"/>
          <p:nvPr/>
        </p:nvSpPr>
        <p:spPr>
          <a:xfrm>
            <a:off x="640080" y="325526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code</a:t>
            </a:r>
            <a:endParaRPr lang="en-US" sz="1600" dirty="0"/>
          </a:p>
        </p:txBody>
      </p:sp>
      <p:sp>
        <p:nvSpPr>
          <p:cNvPr id="10" name="Link value 4"/>
          <p:cNvSpPr txBox="1"/>
          <p:nvPr/>
        </p:nvSpPr>
        <p:spPr>
          <a:xfrm>
            <a:off x="2468880" y="3255264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GitHub repo, access given during the interview</a:t>
            </a:r>
            <a:endParaRPr lang="en-US" sz="1300" dirty="0"/>
          </a:p>
        </p:txBody>
      </p:sp>
      <p:sp>
        <p:nvSpPr>
          <p:cNvPr id="11" name="Links note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is available in Bahasa Indonesia and English. Demo data can be edited and is restored every 3 hours.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">
  <a:themeElements>
    <a:clrScheme name="Goflix">
      <a:dk1>
        <a:srgbClr val="1B2430"/>
      </a:dk1>
      <a:lt1>
        <a:srgbClr val="FFFFFF"/>
      </a:lt1>
      <a:dk2>
        <a:srgbClr val="3A4656"/>
      </a:dk2>
      <a:lt2>
        <a:srgbClr val="F1F3F5"/>
      </a:lt2>
      <a:accent1>
        <a:srgbClr val="E11D48"/>
      </a:accent1>
      <a:accent2>
        <a:srgbClr val="2E8B6E"/>
      </a:accent2>
      <a:accent3>
        <a:srgbClr val="5B6B7F"/>
      </a:accent3>
      <a:accent4>
        <a:srgbClr val="F2A541"/>
      </a:accent4>
      <a:accent5>
        <a:srgbClr val="8FA3B8"/>
      </a:accent5>
      <a:accent6>
        <a:srgbClr val="C9D1D9"/>
      </a:accent6>
      <a:hlink>
        <a:srgbClr val="E11D48"/>
      </a:hlink>
      <a:folHlink>
        <a:srgbClr val="5B6B7F"/>
      </a:folHlink>
    </a:clrScheme>
    <a:fontScheme name="Goflix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admin dashboard of a streaming platform</dc:title>
  <dc:subject>PptxGenJS Presentation</dc:subject>
  <dc:creator>Enrico Saputra</dc:creator>
  <cp:lastModifiedBy>Enrico Saputra</cp:lastModifiedBy>
  <cp:revision>1</cp:revision>
  <dcterms:created xsi:type="dcterms:W3CDTF">2026-10-19T09:49:31Z</dcterms:created>
  <dcterms:modified xsi:type="dcterms:W3CDTF">2026-10-19T09:49:31Z</dcterms:modified>
</cp:coreProperties>
</file>